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6" r:id="rId2"/>
    <p:sldId id="2155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4E61F-B71C-4E11-8E97-44554F2CE41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7281A-CF1C-4FE5-9CA4-B6EF7AF8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909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https://docs.langchain.com/oss/python/learn
- User-provided course material: LangChain_V1.pdf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6A6B5-AB52-09C0-2787-22FF0CB6D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CED5AB-2830-C888-9550-920160844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6FADEE-99C3-C581-2A2F-2F29D49A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F547D2-DC77-CC24-39D8-CC2E9F77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CEB7C7-E04A-A918-0125-B61ADC61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127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912E4-10E9-40A8-6ECE-653D0C9E7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54B3D-5DEE-4B41-6620-B975EAEEA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18D894-AA7E-3AD8-C9AA-803B979A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A5909E-C546-FC9E-763D-17441E04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1AB16F-508C-0A90-C817-3E3C58BA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572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42978-4FEA-2786-74B3-6E9B9A7F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99D413-B1E9-9F3C-4216-319CD69B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90901F-CE42-3443-E953-76C103C1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67BE59-FCBC-9874-C401-F411047E6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D7738E-8A44-A218-5144-DE9CE431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609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1D82F-CB43-1E40-C124-5FE78B04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2C8360-0B13-EB52-454D-3A9400B00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003E87-D4AA-DAAE-5B31-FC2E5B3A4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3429B-27B7-8DEB-7D56-C4F36D74A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09B960-A309-5B17-3BCA-5B5FB953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E13D46-86BF-310B-7990-54C0CEDD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873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6FAA3-D687-89CB-6A77-626BF74B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16C7B6-F136-92D2-3C0D-CB1F9F587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D697B3-18E0-417C-C384-7ED52A1D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31E354-2A50-B823-32FC-9F2B2FC91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8B390D-E92C-BFA6-27A7-EDD97AC7A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E30C4F-143B-A566-7756-9426DCD8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F805B1-7923-9CDE-F76B-21D055DA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DF71D5-D4E6-0B4D-65ED-A64E5917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655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55816-EBCD-2C47-78DC-D0D9BCA3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DA4BB7-1E41-BF3D-2D5C-2CA31720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5F35FE-3249-4368-AB8B-C5A93EAE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4F9080-C038-3C18-F2B6-8F3D2C82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47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E66B2E-A39F-6EBE-ED2E-53C87A34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ED5750-BE3F-923E-BB37-112659D22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97A51-A471-AC59-2A31-4A48789A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52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7D176-CA83-51D2-AEB8-97CE1047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A668C6-C88C-608A-479B-9A0C0F5C4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7BBA02-15B7-C13A-34AA-2A430F727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E5F2DC-5B4D-C156-8DB3-8A2E623F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943B2E-F286-C873-5933-49ECA736D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75D7CE-DCEB-274F-D59E-DC756200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263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95C76-6855-D42A-F7DC-B34629AB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AF5D24-4EDB-DA1D-5694-42BA789B6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0D6800-7AAE-F140-6C02-5C57DD825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258277-E1BD-9BF3-D975-7ECDBCFF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3ED052-8DF3-81B7-1EE7-2DE8BD3F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94703D-E25F-1F24-5FD7-90E6E42D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65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145AF-90C5-74E2-AF26-A8F3108B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32129A-BA0F-BA8D-A18A-16A12FA55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778BB-59BE-4941-49CF-2EFF9045E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195B6-61D6-BA00-0CE9-5B666DA4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8D565B-7901-2DEA-5C72-0370414F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660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B0DD97-F9F1-0E2B-5BC5-E76768F7F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0B4B74-95FE-B159-9148-199222081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AF4E1F-96C3-C2D1-95D5-C53ACE58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99FA5F-09DE-6496-5D62-DF5B4EC2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B42C64-BE90-C38D-DD61-39A3962D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84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90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28F2B3-7658-E647-EA88-1D0F3016B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858588-F2AC-C876-77C3-2BC481D93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F438C-245C-BB34-8D5D-25D317177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A6EA2-F1FB-4481-8AEB-4774E90327F7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4A305-E13B-F8C2-87BD-8903AD75A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F0327D-8651-565A-45BA-2B6387D5E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39AF5-01DB-4B37-B6A2-E9B0098E16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404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1463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 &amp; Tool Calling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5669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109728" cy="5074920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000" b="1" dirty="0"/>
              <a:t>LLM</a:t>
            </a:r>
            <a:r>
              <a:rPr lang="ko-KR" altLang="en-US" sz="2000" b="1" dirty="0"/>
              <a:t>의 함수 호출 방법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5257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en-US" altLang="ko-KR" sz="1600" dirty="0"/>
              <a:t>LLM</a:t>
            </a:r>
            <a:r>
              <a:rPr lang="ko-KR" altLang="en-US" sz="1600" dirty="0"/>
              <a:t>은 함수 호출</a:t>
            </a:r>
            <a:r>
              <a:rPr lang="en-US" altLang="ko-KR" sz="1600" dirty="0"/>
              <a:t>(Function Calling) </a:t>
            </a:r>
            <a:r>
              <a:rPr lang="ko-KR" altLang="en-US" sz="1600" dirty="0"/>
              <a:t>기능을 통해 외부 도구 및 </a:t>
            </a:r>
            <a:r>
              <a:rPr lang="en-US" altLang="ko-KR" sz="1600" dirty="0"/>
              <a:t>API</a:t>
            </a:r>
            <a:r>
              <a:rPr lang="ko-KR" altLang="en-US" sz="1600" dirty="0"/>
              <a:t>와 안정적으로 통합될 수 있습니다</a:t>
            </a:r>
            <a:r>
              <a:rPr lang="en-US" altLang="ko-KR" sz="1600" dirty="0"/>
              <a:t>.</a:t>
            </a:r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r>
              <a:rPr lang="en-US" altLang="ko-KR" sz="1600" dirty="0"/>
              <a:t>JSON </a:t>
            </a:r>
            <a:r>
              <a:rPr lang="ko-KR" altLang="en-US" sz="1600" dirty="0"/>
              <a:t>기반 함수 호출</a:t>
            </a:r>
            <a:r>
              <a:rPr lang="en-US" altLang="ko-KR" sz="1600" dirty="0"/>
              <a:t>: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모델은 함수 </a:t>
            </a:r>
            <a:r>
              <a:rPr lang="ko-KR" altLang="en-US" sz="1600" dirty="0" err="1"/>
              <a:t>시그니처를</a:t>
            </a:r>
            <a:r>
              <a:rPr lang="ko-KR" altLang="en-US" sz="1600" dirty="0"/>
              <a:t> 따르는 </a:t>
            </a:r>
            <a:r>
              <a:rPr lang="en-US" altLang="ko-KR" sz="1600" dirty="0"/>
              <a:t>JSON </a:t>
            </a:r>
            <a:r>
              <a:rPr lang="ko-KR" altLang="en-US" sz="1600" dirty="0"/>
              <a:t>객체로 응답합니다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개발자는 함수의 입력 파라미터를 </a:t>
            </a:r>
            <a:r>
              <a:rPr lang="en-US" altLang="ko-KR" sz="1600" dirty="0"/>
              <a:t>JSON </a:t>
            </a:r>
            <a:r>
              <a:rPr lang="ko-KR" altLang="en-US" sz="1600" dirty="0"/>
              <a:t>스키마로 설명합니다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r>
              <a:rPr lang="ko-KR" altLang="en-US" sz="1600" dirty="0"/>
              <a:t>자동 함수 호출 결정</a:t>
            </a:r>
            <a:r>
              <a:rPr lang="en-US" altLang="ko-KR" sz="1600" dirty="0"/>
              <a:t>: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모델은 입력에 따라 적절한 함수를 호출할 시점을 감지합니다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r>
              <a:rPr lang="ko-KR" altLang="en-US" sz="1600" dirty="0"/>
              <a:t>사용 사례</a:t>
            </a:r>
            <a:r>
              <a:rPr lang="en-US" altLang="ko-KR" sz="1600" dirty="0"/>
              <a:t>: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외부 도구 호출</a:t>
            </a:r>
            <a:r>
              <a:rPr lang="en-US" altLang="ko-KR" sz="1600" dirty="0"/>
              <a:t>: API, </a:t>
            </a:r>
            <a:r>
              <a:rPr lang="ko-KR" altLang="en-US" sz="1600" dirty="0"/>
              <a:t>플러그인 등과 연결해 작업 수행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get_current_weather</a:t>
            </a:r>
            <a:r>
              <a:rPr lang="en-US" altLang="ko-KR" sz="1600" dirty="0"/>
              <a:t>(location: string, unit: '</a:t>
            </a:r>
            <a:r>
              <a:rPr lang="en-US" altLang="ko-KR" sz="1600" dirty="0" err="1"/>
              <a:t>celsius</a:t>
            </a:r>
            <a:r>
              <a:rPr lang="en-US" altLang="ko-KR" sz="1600" dirty="0"/>
              <a:t>' | '</a:t>
            </a:r>
            <a:r>
              <a:rPr lang="en-US" altLang="ko-KR" sz="1600" dirty="0" err="1"/>
              <a:t>fahrenheit</a:t>
            </a:r>
            <a:r>
              <a:rPr lang="en-US" altLang="ko-KR" sz="1600" dirty="0"/>
              <a:t>')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1097280"/>
            <a:ext cx="4983480" cy="29718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66560" y="1298448"/>
            <a:ext cx="4526280" cy="2569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tool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calc_tax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float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float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float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"""세금 포함 가격을 반환"""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94360" y="6537960"/>
            <a:ext cx="1101852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· Tools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0" y="65836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FB0FDF3-8AD4-D7DD-6335-08A7C865D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132" y="215986"/>
            <a:ext cx="4015670" cy="6453756"/>
          </a:xfr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EDB1B6-A91B-72CF-89B3-F6FE1322EF49}"/>
              </a:ext>
            </a:extLst>
          </p:cNvPr>
          <p:cNvSpPr txBox="1"/>
          <p:nvPr/>
        </p:nvSpPr>
        <p:spPr>
          <a:xfrm>
            <a:off x="5389582" y="1527586"/>
            <a:ext cx="619110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함수 호출 단계</a:t>
            </a:r>
            <a:endParaRPr lang="en-US" altLang="ko-KR" sz="2400" dirty="0"/>
          </a:p>
          <a:p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함수 정보와 함께 </a:t>
            </a:r>
            <a:r>
              <a:rPr lang="en-US" altLang="ko-KR" dirty="0"/>
              <a:t>LLM</a:t>
            </a:r>
            <a:r>
              <a:rPr lang="ko-KR" altLang="en-US" dirty="0"/>
              <a:t> 모델 호출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모델이 함수 호출을 결정 </a:t>
            </a:r>
            <a:r>
              <a:rPr lang="en-US" altLang="ko-KR" dirty="0"/>
              <a:t>– </a:t>
            </a:r>
            <a:r>
              <a:rPr lang="ko-KR" altLang="en-US" dirty="0"/>
              <a:t>함수명과 </a:t>
            </a:r>
            <a:r>
              <a:rPr lang="en-US" altLang="ko-KR" dirty="0"/>
              <a:t>argument </a:t>
            </a:r>
            <a:r>
              <a:rPr lang="ko-KR" altLang="en-US" dirty="0"/>
              <a:t>반환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함수 호출 </a:t>
            </a:r>
            <a:r>
              <a:rPr lang="en-US" altLang="ko-KR" dirty="0"/>
              <a:t>– </a:t>
            </a:r>
            <a:r>
              <a:rPr lang="ko-KR" altLang="en-US" dirty="0"/>
              <a:t>모델이 만들어준 </a:t>
            </a:r>
            <a:r>
              <a:rPr lang="en-US" altLang="ko-KR" dirty="0"/>
              <a:t>argument  </a:t>
            </a:r>
            <a:r>
              <a:rPr lang="ko-KR" altLang="en-US" dirty="0"/>
              <a:t>이용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함수 호출 결과를 모델에 제공</a:t>
            </a:r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모델이 최종 응답 생성</a:t>
            </a:r>
          </a:p>
        </p:txBody>
      </p:sp>
    </p:spTree>
    <p:extLst>
      <p:ext uri="{BB962C8B-B14F-4D97-AF65-F5344CB8AC3E}">
        <p14:creationId xmlns:p14="http://schemas.microsoft.com/office/powerpoint/2010/main" val="2650543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와이드스크린</PresentationFormat>
  <Paragraphs>30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Malgun Gothic</vt:lpstr>
      <vt:lpstr>Malgun Gothic</vt:lpstr>
      <vt:lpstr>Arial</vt:lpstr>
      <vt:lpstr>Consolas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YOUNGJEA OH</dc:creator>
  <cp:lastModifiedBy>YOUNGJEA OH</cp:lastModifiedBy>
  <cp:revision>1</cp:revision>
  <dcterms:created xsi:type="dcterms:W3CDTF">2026-05-27T22:02:59Z</dcterms:created>
  <dcterms:modified xsi:type="dcterms:W3CDTF">2026-05-27T22:03:31Z</dcterms:modified>
</cp:coreProperties>
</file>