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250" r:id="rId2"/>
    <p:sldId id="342" r:id="rId3"/>
    <p:sldId id="332" r:id="rId4"/>
    <p:sldId id="340" r:id="rId5"/>
    <p:sldId id="341" r:id="rId6"/>
    <p:sldId id="333" r:id="rId7"/>
    <p:sldId id="2252" r:id="rId8"/>
    <p:sldId id="271" r:id="rId9"/>
    <p:sldId id="334" r:id="rId10"/>
    <p:sldId id="345" r:id="rId11"/>
    <p:sldId id="274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4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2F2E82-818C-44E9-B54C-323307754DCE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A4FE3E-28DE-4231-8166-5BAD442E3F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419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에이전트에 연결할 수 있는 </a:t>
            </a:r>
            <a:r>
              <a:rPr lang="en-US" altLang="ko-KR" dirty="0"/>
              <a:t>7</a:t>
            </a:r>
            <a:r>
              <a:rPr lang="ko-KR" altLang="en-US" dirty="0"/>
              <a:t>천 개 이상의 </a:t>
            </a:r>
            <a:r>
              <a:rPr lang="en-US" altLang="ko-KR" dirty="0"/>
              <a:t>MCP </a:t>
            </a:r>
            <a:r>
              <a:rPr lang="ko-KR" altLang="en-US" dirty="0"/>
              <a:t>서버</a:t>
            </a:r>
            <a:r>
              <a:rPr lang="en-US" altLang="ko-KR" dirty="0"/>
              <a:t>·</a:t>
            </a:r>
            <a:r>
              <a:rPr lang="ko-KR" altLang="en-US" dirty="0"/>
              <a:t>도구들을 검색</a:t>
            </a:r>
            <a:r>
              <a:rPr lang="en-US" altLang="ko-KR" dirty="0"/>
              <a:t>·</a:t>
            </a:r>
            <a:r>
              <a:rPr lang="ko-KR" altLang="en-US" dirty="0"/>
              <a:t>연결할 수 있는 허브 역할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6EA135-FC48-4FF0-8F1D-FAC4842A5CA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8824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2F9055-D559-D1F0-4B3B-4F5AA2049F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6ABE3D-F9B4-8B01-CC0A-4E72A29185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F07EA0-24C3-65B4-D161-6C826A3E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5116F-FDD8-475F-B435-95DD062409DA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E6C080-6A6D-1617-8F9B-6E7F4021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32A37E-4498-CC41-4CF7-D9F88AD9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FA60-92D6-4543-A657-9A4922B786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7718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FB00B7-1D1F-D100-B485-4DBFFBD20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1D340E-5CB1-899C-90AC-AB3F426CF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BC4FCB-094C-0370-90AD-686ED71B0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5116F-FDD8-475F-B435-95DD062409DA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3E3E1-4887-F9A6-7B73-06FCD1E0C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0EC650-43F7-2D82-5E03-A7F32FE1E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FA60-92D6-4543-A657-9A4922B786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322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D9BFB0-81CF-CA9D-0B2D-8A5A24E3C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C47D0E-948D-36BA-2898-592FEE641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963A38-69C1-E5B1-B770-2D4B8A11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5116F-FDD8-475F-B435-95DD062409DA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7EFF395-6766-B77F-FD2D-9EFA5873C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50842E-A0DC-A0EC-1CF5-306803CC4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FA60-92D6-4543-A657-9A4922B786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6477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D29F88-C2E7-2956-5FD7-4259DFC83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DA1ED6-0BEA-3718-2583-A78A92D074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1D944A8-93C3-87B3-F13C-C6841909B6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297E85F-E351-4178-AA72-F5090DCF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5116F-FDD8-475F-B435-95DD062409DA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23FB5C-E1E7-B77F-C13E-E929CE7BC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E5E9E7-4610-56A6-DF92-C62E5D483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FA60-92D6-4543-A657-9A4922B786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4067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BC0455-598B-F320-EB7A-A4D5CD626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FD85C2-E8C4-488F-9FE5-184F4F564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E3C82ED-0742-7A2C-28F7-8B48E3120E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CDCE87-2700-A095-2E34-81AA98489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435CCED-A0B0-CDBB-09B7-71DDCA8AD1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4671B22-08D7-5F3D-9022-742680BBA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5116F-FDD8-475F-B435-95DD062409DA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032E-57B3-2BF0-CD3E-3DBFF24B0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DEF1BA1-8BD8-C867-283A-347BB56BA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FA60-92D6-4543-A657-9A4922B786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9185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00CD97-2308-1960-2CA8-1B7880E39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DF6EA4-CC02-D041-4859-302050715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5116F-FDD8-475F-B435-95DD062409DA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EC00C2A-01BA-65A0-0481-A12F9DE82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0DDB5F7-6EFF-76CD-1D0D-88AF5B7A8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FA60-92D6-4543-A657-9A4922B786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074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9B3463-F44E-8336-EC35-E5E11E147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5116F-FDD8-475F-B435-95DD062409DA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39C5F13-E7C1-1846-7BB2-62700601B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7705AA-F510-C016-A2B9-FD04EB2BF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FA60-92D6-4543-A657-9A4922B786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643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3AE5CF-AB24-D2C4-1110-2A65A1F69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35ED1B-BD07-33DD-2BCB-B2A2EA58E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11E5975-1755-6F36-3F13-29670ABD2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A3B195-1CA2-FA00-A30E-B62164219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5116F-FDD8-475F-B435-95DD062409DA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765291-4EDA-E935-4A63-52A354C77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B27E4D-E80B-77F5-5D35-3906B6327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FA60-92D6-4543-A657-9A4922B786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2498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79543D-13A9-DEBE-8A4F-354BD6D33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877FE08-8CDA-64FC-1A61-73AC507A10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3B2221-64E5-52F2-F7A9-4D998FBE1D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81C465-1FA9-A7C0-EC30-33DE99F5F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5116F-FDD8-475F-B435-95DD062409DA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5F16F6-A03B-F63B-84B5-F12C206BD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02E78B-DA65-1EBA-141A-3243A80B6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FA60-92D6-4543-A657-9A4922B786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33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9DC36A-C3C2-E3B3-7561-3FA5F3579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654FB8E-7630-2D76-CE0C-84A493316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9582D2-6FC6-1EC2-F74A-F120BEDC7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5116F-FDD8-475F-B435-95DD062409DA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1A23D3-8E63-25CA-B750-F77806ADB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511750-5E79-8AD2-3E8D-E2AA833E8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FA60-92D6-4543-A657-9A4922B786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3270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2DA0234-64B5-6745-3F43-23185C654A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C909003-7A5F-EC66-6596-24869F3222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1963ED-7CD0-DDE2-65EE-B31A1AB61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5116F-FDD8-475F-B435-95DD062409DA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38F942-37A4-A323-45DD-572968E90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EAA215-58AF-01C9-1C01-EC0675D32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6FA60-92D6-4543-A657-9A4922B786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2169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15E33F2-76A9-9977-3F6F-237B1DD5D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3F8441-E489-BD70-D344-C67377343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E28864-C15B-CBA5-25CF-E7AF006473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05116F-FDD8-475F-B435-95DD062409DA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876992-2101-5517-32DF-A192486C40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267FB1-EAF3-EC6C-37EA-8E9F9EB0A2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66FA60-92D6-4543-A657-9A4922B786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889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angchain-ai/langchain-mcp-adapters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025ED-6C83-7AE1-988B-A420E85C4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8FE0892-7548-4435-9A7B-F3E090EA2F58}"/>
              </a:ext>
            </a:extLst>
          </p:cNvPr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0B1F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7A6F427-876D-9C66-80E2-687D8A1D0E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5943" y="1614973"/>
            <a:ext cx="7600112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0929C6-1BF8-8670-FF33-5ADFE3DA22B6}"/>
              </a:ext>
            </a:extLst>
          </p:cNvPr>
          <p:cNvSpPr txBox="1"/>
          <p:nvPr/>
        </p:nvSpPr>
        <p:spPr>
          <a:xfrm>
            <a:off x="4574236" y="1193590"/>
            <a:ext cx="3103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USB-C Type </a:t>
            </a:r>
            <a:r>
              <a:rPr lang="ko-KR" altLang="en-US" b="1" dirty="0"/>
              <a:t>같은 표준 규약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D8E128-EBBD-BCD6-F8D2-7DC52368835C}"/>
              </a:ext>
            </a:extLst>
          </p:cNvPr>
          <p:cNvSpPr txBox="1"/>
          <p:nvPr/>
        </p:nvSpPr>
        <p:spPr>
          <a:xfrm>
            <a:off x="9896055" y="1908605"/>
            <a:ext cx="2154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Cursor, </a:t>
            </a:r>
          </a:p>
          <a:p>
            <a:r>
              <a:rPr lang="en-US" altLang="ko-KR" dirty="0"/>
              <a:t>Claude Desktop </a:t>
            </a:r>
            <a:r>
              <a:rPr lang="ko-KR" altLang="en-US" dirty="0"/>
              <a:t>등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FBEA358-8A07-7DD2-95FF-37ED721E2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481" y="3966190"/>
            <a:ext cx="1552792" cy="13527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C85855-4E72-48B5-872F-E3A34D8F9054}"/>
              </a:ext>
            </a:extLst>
          </p:cNvPr>
          <p:cNvSpPr txBox="1"/>
          <p:nvPr/>
        </p:nvSpPr>
        <p:spPr>
          <a:xfrm>
            <a:off x="635000" y="152400"/>
            <a:ext cx="8686800" cy="3683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2000" b="1">
                <a:solidFill>
                  <a:srgbClr val="FFFFFF"/>
                </a:solidFill>
                <a:latin typeface="Malgun Gothic"/>
                <a:ea typeface="Malgun Gothic"/>
              </a:rPr>
              <a:t>MCP architecture</a:t>
            </a:r>
            <a:endParaRPr lang="ko-KR" altLang="en-US" sz="20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02A178-369A-4F3E-8972-741FC2167DAA}"/>
              </a:ext>
            </a:extLst>
          </p:cNvPr>
          <p:cNvSpPr/>
          <p:nvPr/>
        </p:nvSpPr>
        <p:spPr>
          <a:xfrm>
            <a:off x="0" y="6540500"/>
            <a:ext cx="12192000" cy="3175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9A08D3-E650-417B-88DF-277D9A369FA8}"/>
              </a:ext>
            </a:extLst>
          </p:cNvPr>
          <p:cNvSpPr txBox="1"/>
          <p:nvPr/>
        </p:nvSpPr>
        <p:spPr>
          <a:xfrm>
            <a:off x="635000" y="6578600"/>
            <a:ext cx="8229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000">
                <a:solidFill>
                  <a:srgbClr val="94A3B8"/>
                </a:solidFill>
                <a:latin typeface="Malgun Gothic"/>
                <a:ea typeface="Malgun Gothic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A6443B-35FD-4D06-A1FE-AF9B48F54F47}"/>
              </a:ext>
            </a:extLst>
          </p:cNvPr>
          <p:cNvSpPr txBox="1"/>
          <p:nvPr/>
        </p:nvSpPr>
        <p:spPr>
          <a:xfrm>
            <a:off x="8966200" y="6578600"/>
            <a:ext cx="2603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94A3B8"/>
                </a:solidFill>
                <a:latin typeface="Malgun Gothic"/>
                <a:ea typeface="Malgun Gothic"/>
              </a:rPr>
              <a:t>94</a:t>
            </a:r>
            <a:endParaRPr lang="ko-KR" altLang="en-US" sz="1000">
              <a:solidFill>
                <a:srgbClr val="94A3B8"/>
              </a:solidFill>
              <a:latin typeface="Malgun Gothic"/>
              <a:ea typeface="Malgun Gothic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F65C839-8951-48E8-84DB-1141BFD19747}"/>
              </a:ext>
            </a:extLst>
          </p:cNvPr>
          <p:cNvSpPr/>
          <p:nvPr/>
        </p:nvSpPr>
        <p:spPr>
          <a:xfrm>
            <a:off x="596900" y="6527800"/>
            <a:ext cx="11023600" cy="12700"/>
          </a:xfrm>
          <a:prstGeom prst="rect">
            <a:avLst/>
          </a:prstGeom>
          <a:solidFill>
            <a:srgbClr val="D6DE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7255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20E0220-D415-4B0A-A01F-A62C90D1617A}"/>
              </a:ext>
            </a:extLst>
          </p:cNvPr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0B1F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48C5A2-6AA5-E0DE-993D-53990C259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412081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/>
              <a:t>MCP server / MCP client</a:t>
            </a:r>
          </a:p>
          <a:p>
            <a:pPr>
              <a:lnSpc>
                <a:spcPct val="150000"/>
              </a:lnSpc>
            </a:pPr>
            <a:r>
              <a:rPr lang="en-US" altLang="ko-KR" sz="2400" dirty="0"/>
              <a:t>Resources – AI</a:t>
            </a:r>
            <a:r>
              <a:rPr lang="ko-KR" altLang="en-US" sz="2400" dirty="0"/>
              <a:t> 모델에게 필요한 정보와 컨텍스트를 제공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en-US" altLang="ko-KR" sz="2400" dirty="0"/>
              <a:t>Tools – AI </a:t>
            </a:r>
            <a:r>
              <a:rPr lang="ko-KR" altLang="en-US" sz="2400" dirty="0"/>
              <a:t>모델이 외부 시스템에서 작업을 수행할 수 있도록 도구 정의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en-US" altLang="ko-KR" sz="2400" dirty="0"/>
              <a:t>Prompts – AI </a:t>
            </a:r>
            <a:r>
              <a:rPr lang="ko-KR" altLang="en-US" sz="2400" dirty="0"/>
              <a:t>모델이 리소스와 도구를 활용하여 응답을 생성할 수 있도록 재사용 가능한 템플릿 제공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D97AE7-AB67-4D75-A349-9ED643305563}"/>
              </a:ext>
            </a:extLst>
          </p:cNvPr>
          <p:cNvSpPr txBox="1"/>
          <p:nvPr/>
        </p:nvSpPr>
        <p:spPr>
          <a:xfrm>
            <a:off x="635000" y="152400"/>
            <a:ext cx="8686800" cy="3683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2000" b="1">
                <a:solidFill>
                  <a:srgbClr val="FFFFFF"/>
                </a:solidFill>
                <a:latin typeface="Malgun Gothic"/>
                <a:ea typeface="Malgun Gothic"/>
              </a:rPr>
              <a:t>MCP </a:t>
            </a:r>
            <a:r>
              <a:rPr lang="ko-KR" altLang="en-US" sz="2000" b="1">
                <a:solidFill>
                  <a:srgbClr val="FFFFFF"/>
                </a:solidFill>
                <a:latin typeface="Malgun Gothic"/>
                <a:ea typeface="Malgun Gothic"/>
              </a:rPr>
              <a:t>구현 구성 요소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0F90962-AFA7-46FA-8134-8895C1388FB1}"/>
              </a:ext>
            </a:extLst>
          </p:cNvPr>
          <p:cNvSpPr/>
          <p:nvPr/>
        </p:nvSpPr>
        <p:spPr>
          <a:xfrm>
            <a:off x="0" y="6540500"/>
            <a:ext cx="12192000" cy="3175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589986-F49F-4F21-8AB6-5592134A5847}"/>
              </a:ext>
            </a:extLst>
          </p:cNvPr>
          <p:cNvSpPr txBox="1"/>
          <p:nvPr/>
        </p:nvSpPr>
        <p:spPr>
          <a:xfrm>
            <a:off x="635000" y="6578600"/>
            <a:ext cx="8229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000">
                <a:solidFill>
                  <a:srgbClr val="94A3B8"/>
                </a:solidFill>
                <a:latin typeface="Malgun Gothic"/>
                <a:ea typeface="Malgun Gothic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D701BD-6080-479A-B3D5-C3C6B7362597}"/>
              </a:ext>
            </a:extLst>
          </p:cNvPr>
          <p:cNvSpPr txBox="1"/>
          <p:nvPr/>
        </p:nvSpPr>
        <p:spPr>
          <a:xfrm>
            <a:off x="8966200" y="6578600"/>
            <a:ext cx="2603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94A3B8"/>
                </a:solidFill>
                <a:latin typeface="Malgun Gothic"/>
                <a:ea typeface="Malgun Gothic"/>
              </a:rPr>
              <a:t>95</a:t>
            </a:r>
            <a:endParaRPr lang="ko-KR" altLang="en-US" sz="1000">
              <a:solidFill>
                <a:srgbClr val="94A3B8"/>
              </a:solidFill>
              <a:latin typeface="Malgun Gothic"/>
              <a:ea typeface="Malgun Gothic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819BA7D-52F1-4FDE-949E-3B363B0366D5}"/>
              </a:ext>
            </a:extLst>
          </p:cNvPr>
          <p:cNvSpPr/>
          <p:nvPr/>
        </p:nvSpPr>
        <p:spPr>
          <a:xfrm>
            <a:off x="596900" y="6527800"/>
            <a:ext cx="11023600" cy="12700"/>
          </a:xfrm>
          <a:prstGeom prst="rect">
            <a:avLst/>
          </a:prstGeom>
          <a:solidFill>
            <a:srgbClr val="D6DE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827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B76D6-2968-E22E-6793-5619D0887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D7EE873-C0FF-43E1-A82B-D03E2220C86B}"/>
              </a:ext>
            </a:extLst>
          </p:cNvPr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0B1F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B7D685-01F8-B7F2-E3E8-75FB03A6A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900" y="1412081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ko-KR" altLang="en-US" sz="2400" dirty="0"/>
              <a:t>역할</a:t>
            </a:r>
            <a:r>
              <a:rPr lang="en-US" altLang="ko-KR" sz="2400" dirty="0"/>
              <a:t>: LLM(</a:t>
            </a:r>
            <a:r>
              <a:rPr lang="ko-KR" altLang="en-US" sz="2400" dirty="0"/>
              <a:t>대형 언어 모델</a:t>
            </a:r>
            <a:r>
              <a:rPr lang="en-US" altLang="ko-KR" sz="2400" dirty="0"/>
              <a:t>)</a:t>
            </a:r>
            <a:r>
              <a:rPr lang="ko-KR" altLang="en-US" sz="2400" dirty="0"/>
              <a:t>에 데이터를 제공하는 인터페이스</a:t>
            </a:r>
            <a:br>
              <a:rPr lang="en-US" altLang="ko-KR" sz="2400" dirty="0"/>
            </a:br>
            <a:r>
              <a:rPr lang="en-US" altLang="ko-KR" sz="2400" dirty="0">
                <a:sym typeface="Wingdings" panose="05000000000000000000" pitchFamily="2" charset="2"/>
              </a:rPr>
              <a:t> </a:t>
            </a:r>
            <a:r>
              <a:rPr lang="en-US" altLang="ko-KR" sz="2400" dirty="0"/>
              <a:t>REST API</a:t>
            </a:r>
            <a:r>
              <a:rPr lang="ko-KR" altLang="en-US" sz="2400" dirty="0"/>
              <a:t>에서의 </a:t>
            </a:r>
            <a:r>
              <a:rPr lang="en-US" altLang="ko-KR" sz="2400" dirty="0"/>
              <a:t>GET </a:t>
            </a:r>
            <a:r>
              <a:rPr lang="ko-KR" altLang="en-US" sz="2400" dirty="0" err="1"/>
              <a:t>엔드포인트와</a:t>
            </a:r>
            <a:r>
              <a:rPr lang="ko-KR" altLang="en-US" sz="2400" dirty="0"/>
              <a:t> 유사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en-US" altLang="ko-KR" sz="2400" dirty="0"/>
              <a:t>AI </a:t>
            </a:r>
            <a:r>
              <a:rPr lang="ko-KR" altLang="en-US" sz="2400" dirty="0"/>
              <a:t>모델에게 필요한 정보와 컨텍스트를 제공 </a:t>
            </a:r>
            <a:r>
              <a:rPr lang="en-US" altLang="ko-KR" sz="2400" dirty="0">
                <a:sym typeface="Wingdings" panose="05000000000000000000" pitchFamily="2" charset="2"/>
              </a:rPr>
              <a:t> </a:t>
            </a:r>
            <a:r>
              <a:rPr lang="ko-KR" altLang="en-US" sz="2400" dirty="0"/>
              <a:t>읽기 전용</a:t>
            </a:r>
            <a:r>
              <a:rPr lang="en-US" altLang="ko-KR" sz="2400" dirty="0"/>
              <a:t>(read-only)</a:t>
            </a:r>
            <a:endParaRPr lang="ko-KR" altLang="en-US" sz="2400" dirty="0"/>
          </a:p>
          <a:p>
            <a:pPr>
              <a:lnSpc>
                <a:spcPct val="100000"/>
              </a:lnSpc>
            </a:pPr>
            <a:r>
              <a:rPr lang="ko-KR" altLang="en-US" sz="2400" dirty="0"/>
              <a:t>중대한 연산이나 부작용</a:t>
            </a:r>
            <a:r>
              <a:rPr lang="en-US" altLang="ko-KR" sz="2400" dirty="0"/>
              <a:t>(side effect)</a:t>
            </a:r>
            <a:r>
              <a:rPr lang="ko-KR" altLang="en-US" sz="2400" dirty="0"/>
              <a:t>이 없어야 함</a:t>
            </a:r>
          </a:p>
          <a:p>
            <a:pPr>
              <a:lnSpc>
                <a:spcPct val="100000"/>
              </a:lnSpc>
            </a:pPr>
            <a:r>
              <a:rPr lang="ko-KR" altLang="en-US" sz="2400" dirty="0"/>
              <a:t>유저 프로필 조회</a:t>
            </a:r>
            <a:r>
              <a:rPr lang="en-US" altLang="ko-KR" sz="2400" dirty="0"/>
              <a:t>, </a:t>
            </a:r>
            <a:r>
              <a:rPr lang="ko-KR" altLang="en-US" sz="2400" dirty="0"/>
              <a:t>제품 목록 불러오기</a:t>
            </a:r>
            <a:r>
              <a:rPr lang="en-US" altLang="ko-KR" sz="2400" dirty="0"/>
              <a:t>, </a:t>
            </a:r>
            <a:r>
              <a:rPr lang="ko-KR" altLang="en-US" sz="2400" dirty="0"/>
              <a:t>데이터베이스에서 값 읽기 등을 정의하는 안전한 조회용 </a:t>
            </a:r>
            <a:r>
              <a:rPr lang="en-US" altLang="ko-KR" sz="2400" dirty="0"/>
              <a:t>API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0BC7C8-B127-4B68-8679-51EE097468AA}"/>
              </a:ext>
            </a:extLst>
          </p:cNvPr>
          <p:cNvSpPr txBox="1"/>
          <p:nvPr/>
        </p:nvSpPr>
        <p:spPr>
          <a:xfrm>
            <a:off x="635000" y="152400"/>
            <a:ext cx="8686800" cy="3683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2000" b="1">
                <a:solidFill>
                  <a:srgbClr val="FFFFFF"/>
                </a:solidFill>
                <a:latin typeface="Malgun Gothic"/>
                <a:ea typeface="Malgun Gothic"/>
              </a:rPr>
              <a:t>Resources (</a:t>
            </a:r>
            <a:r>
              <a:rPr lang="ko-KR" altLang="en-US" sz="2000" b="1">
                <a:solidFill>
                  <a:srgbClr val="FFFFFF"/>
                </a:solidFill>
                <a:latin typeface="Malgun Gothic"/>
                <a:ea typeface="Malgun Gothic"/>
              </a:rPr>
              <a:t>리소스</a:t>
            </a:r>
            <a:r>
              <a:rPr lang="en-US" altLang="ko-KR" sz="2000" b="1">
                <a:solidFill>
                  <a:srgbClr val="FFFFFF"/>
                </a:solidFill>
                <a:latin typeface="Malgun Gothic"/>
                <a:ea typeface="Malgun Gothic"/>
              </a:rPr>
              <a:t>)</a:t>
            </a:r>
            <a:endParaRPr lang="ko-KR" altLang="en-US" sz="20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EF885BC-2BAF-472C-9F13-328ACEC1A61F}"/>
              </a:ext>
            </a:extLst>
          </p:cNvPr>
          <p:cNvSpPr/>
          <p:nvPr/>
        </p:nvSpPr>
        <p:spPr>
          <a:xfrm>
            <a:off x="0" y="6540500"/>
            <a:ext cx="12192000" cy="3175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9004EC-013D-4369-9470-FBA1B39EE429}"/>
              </a:ext>
            </a:extLst>
          </p:cNvPr>
          <p:cNvSpPr txBox="1"/>
          <p:nvPr/>
        </p:nvSpPr>
        <p:spPr>
          <a:xfrm>
            <a:off x="635000" y="6578600"/>
            <a:ext cx="8229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000">
                <a:solidFill>
                  <a:srgbClr val="94A3B8"/>
                </a:solidFill>
                <a:latin typeface="Malgun Gothic"/>
                <a:ea typeface="Malgun Gothic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CEB215-3F0E-484D-8C96-B0CFE319A98F}"/>
              </a:ext>
            </a:extLst>
          </p:cNvPr>
          <p:cNvSpPr txBox="1"/>
          <p:nvPr/>
        </p:nvSpPr>
        <p:spPr>
          <a:xfrm>
            <a:off x="8966200" y="6578600"/>
            <a:ext cx="2603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94A3B8"/>
                </a:solidFill>
                <a:latin typeface="Malgun Gothic"/>
                <a:ea typeface="Malgun Gothic"/>
              </a:rPr>
              <a:t>96</a:t>
            </a:r>
            <a:endParaRPr lang="ko-KR" altLang="en-US" sz="1000">
              <a:solidFill>
                <a:srgbClr val="94A3B8"/>
              </a:solidFill>
              <a:latin typeface="Malgun Gothic"/>
              <a:ea typeface="Malgun Gothic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BFA82CA-BE6A-4457-BAF0-A54E17FBA821}"/>
              </a:ext>
            </a:extLst>
          </p:cNvPr>
          <p:cNvSpPr/>
          <p:nvPr/>
        </p:nvSpPr>
        <p:spPr>
          <a:xfrm>
            <a:off x="596900" y="6527800"/>
            <a:ext cx="11023600" cy="12700"/>
          </a:xfrm>
          <a:prstGeom prst="rect">
            <a:avLst/>
          </a:prstGeom>
          <a:solidFill>
            <a:srgbClr val="D6DE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240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35C84-B831-4A3F-1CAC-EBBB71D31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5D51719-F904-4854-9050-D869B0407888}"/>
              </a:ext>
            </a:extLst>
          </p:cNvPr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0B1F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BB31CB-9B83-4052-64D1-DB0F58AE8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900" y="1432239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ko-KR" altLang="en-US" sz="2400" dirty="0"/>
              <a:t>역할</a:t>
            </a:r>
            <a:r>
              <a:rPr lang="en-US" altLang="ko-KR" sz="2400" dirty="0"/>
              <a:t>: LLM</a:t>
            </a:r>
            <a:r>
              <a:rPr lang="ko-KR" altLang="en-US" sz="2400" dirty="0"/>
              <a:t>이 행동을 수행하도록 하는 인터페이스</a:t>
            </a:r>
            <a:br>
              <a:rPr lang="en-US" altLang="ko-KR" sz="2400" dirty="0"/>
            </a:br>
            <a:r>
              <a:rPr lang="en-US" altLang="ko-KR" sz="2400" dirty="0">
                <a:sym typeface="Wingdings" panose="05000000000000000000" pitchFamily="2" charset="2"/>
              </a:rPr>
              <a:t> </a:t>
            </a:r>
            <a:r>
              <a:rPr lang="en-US" altLang="ko-KR" sz="2400" dirty="0"/>
              <a:t>REST API</a:t>
            </a:r>
            <a:r>
              <a:rPr lang="ko-KR" altLang="en-US" sz="2400" dirty="0"/>
              <a:t>에서의 </a:t>
            </a:r>
            <a:r>
              <a:rPr lang="en-US" altLang="ko-KR" sz="2400" dirty="0"/>
              <a:t>POST/PUT/DELETE </a:t>
            </a:r>
            <a:r>
              <a:rPr lang="ko-KR" altLang="en-US" sz="2400" dirty="0" err="1"/>
              <a:t>엔드포인트와</a:t>
            </a:r>
            <a:r>
              <a:rPr lang="ko-KR" altLang="en-US" sz="2400" dirty="0"/>
              <a:t> 유사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en-US" altLang="ko-KR" sz="2400" dirty="0"/>
              <a:t>AI </a:t>
            </a:r>
            <a:r>
              <a:rPr lang="ko-KR" altLang="en-US" sz="2400" dirty="0"/>
              <a:t>모델이 외부에서 작업을 수행할 수 있도록 도구 정의</a:t>
            </a:r>
          </a:p>
          <a:p>
            <a:pPr>
              <a:lnSpc>
                <a:spcPct val="100000"/>
              </a:lnSpc>
            </a:pPr>
            <a:r>
              <a:rPr lang="ko-KR" altLang="en-US" sz="2400" dirty="0"/>
              <a:t>부작용</a:t>
            </a:r>
            <a:r>
              <a:rPr lang="en-US" altLang="ko-KR" sz="2400" dirty="0"/>
              <a:t>(side effect)</a:t>
            </a:r>
            <a:r>
              <a:rPr lang="ko-KR" altLang="en-US" sz="2400" dirty="0"/>
              <a:t>이 발생할 수 있음</a:t>
            </a:r>
          </a:p>
          <a:p>
            <a:pPr>
              <a:lnSpc>
                <a:spcPct val="100000"/>
              </a:lnSpc>
            </a:pPr>
            <a:r>
              <a:rPr lang="ko-KR" altLang="en-US" sz="2400" dirty="0"/>
              <a:t>데이터 생성</a:t>
            </a:r>
            <a:r>
              <a:rPr lang="en-US" altLang="ko-KR" sz="2400" dirty="0"/>
              <a:t>/</a:t>
            </a:r>
            <a:r>
              <a:rPr lang="ko-KR" altLang="en-US" sz="2400" dirty="0"/>
              <a:t>수정</a:t>
            </a:r>
            <a:r>
              <a:rPr lang="en-US" altLang="ko-KR" sz="2400" dirty="0"/>
              <a:t>, </a:t>
            </a:r>
            <a:r>
              <a:rPr lang="ko-KR" altLang="en-US" sz="2400" dirty="0"/>
              <a:t>이메일 발송</a:t>
            </a:r>
            <a:r>
              <a:rPr lang="en-US" altLang="ko-KR" sz="2400" dirty="0"/>
              <a:t>, </a:t>
            </a:r>
            <a:r>
              <a:rPr lang="ko-KR" altLang="en-US" sz="2400" dirty="0"/>
              <a:t>결제 처리</a:t>
            </a:r>
            <a:r>
              <a:rPr lang="en-US" altLang="ko-KR" sz="2400" dirty="0"/>
              <a:t>, </a:t>
            </a:r>
            <a:r>
              <a:rPr lang="ko-KR" altLang="en-US" sz="2400" dirty="0"/>
              <a:t>워크플로우 실행 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D9DDAE-F260-438B-B505-F86248031C63}"/>
              </a:ext>
            </a:extLst>
          </p:cNvPr>
          <p:cNvSpPr txBox="1"/>
          <p:nvPr/>
        </p:nvSpPr>
        <p:spPr>
          <a:xfrm>
            <a:off x="635000" y="152400"/>
            <a:ext cx="8686800" cy="3683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2000" b="1">
                <a:solidFill>
                  <a:srgbClr val="FFFFFF"/>
                </a:solidFill>
                <a:latin typeface="Malgun Gothic"/>
                <a:ea typeface="Malgun Gothic"/>
              </a:rPr>
              <a:t>Tools (</a:t>
            </a:r>
            <a:r>
              <a:rPr lang="ko-KR" altLang="en-US" sz="2000" b="1">
                <a:solidFill>
                  <a:srgbClr val="FFFFFF"/>
                </a:solidFill>
                <a:latin typeface="Malgun Gothic"/>
                <a:ea typeface="Malgun Gothic"/>
              </a:rPr>
              <a:t>툴</a:t>
            </a:r>
            <a:r>
              <a:rPr lang="en-US" altLang="ko-KR" sz="2000" b="1">
                <a:solidFill>
                  <a:srgbClr val="FFFFFF"/>
                </a:solidFill>
                <a:latin typeface="Malgun Gothic"/>
                <a:ea typeface="Malgun Gothic"/>
              </a:rPr>
              <a:t>)</a:t>
            </a:r>
            <a:endParaRPr lang="ko-KR" altLang="en-US" sz="20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E4E07F5-5F6B-4753-9CC5-3CE53B1A067F}"/>
              </a:ext>
            </a:extLst>
          </p:cNvPr>
          <p:cNvSpPr/>
          <p:nvPr/>
        </p:nvSpPr>
        <p:spPr>
          <a:xfrm>
            <a:off x="0" y="6540500"/>
            <a:ext cx="12192000" cy="3175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ADB2C1-69DD-4A68-89B9-548F2DCA1F7D}"/>
              </a:ext>
            </a:extLst>
          </p:cNvPr>
          <p:cNvSpPr txBox="1"/>
          <p:nvPr/>
        </p:nvSpPr>
        <p:spPr>
          <a:xfrm>
            <a:off x="635000" y="6578600"/>
            <a:ext cx="8229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000">
                <a:solidFill>
                  <a:srgbClr val="94A3B8"/>
                </a:solidFill>
                <a:latin typeface="Malgun Gothic"/>
                <a:ea typeface="Malgun Gothic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9BF597-5BC4-406C-AC89-1D6497F84659}"/>
              </a:ext>
            </a:extLst>
          </p:cNvPr>
          <p:cNvSpPr txBox="1"/>
          <p:nvPr/>
        </p:nvSpPr>
        <p:spPr>
          <a:xfrm>
            <a:off x="8966200" y="6578600"/>
            <a:ext cx="2603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94A3B8"/>
                </a:solidFill>
                <a:latin typeface="Malgun Gothic"/>
                <a:ea typeface="Malgun Gothic"/>
              </a:rPr>
              <a:t>97</a:t>
            </a:r>
            <a:endParaRPr lang="ko-KR" altLang="en-US" sz="1000">
              <a:solidFill>
                <a:srgbClr val="94A3B8"/>
              </a:solidFill>
              <a:latin typeface="Malgun Gothic"/>
              <a:ea typeface="Malgun Gothic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AD805D6-DDAF-4C4C-9C67-6AF0B82D9BB9}"/>
              </a:ext>
            </a:extLst>
          </p:cNvPr>
          <p:cNvSpPr/>
          <p:nvPr/>
        </p:nvSpPr>
        <p:spPr>
          <a:xfrm>
            <a:off x="596900" y="6527800"/>
            <a:ext cx="11023600" cy="12700"/>
          </a:xfrm>
          <a:prstGeom prst="rect">
            <a:avLst/>
          </a:prstGeom>
          <a:solidFill>
            <a:srgbClr val="D6DE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4941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6E9EC-9130-18F6-53DF-8E244354B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E0BF42D-4826-4673-9BB8-8C6D763AA43C}"/>
              </a:ext>
            </a:extLst>
          </p:cNvPr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0B1F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035AC6-D197-D585-1D36-F82BBD2F2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239"/>
            <a:ext cx="10515600" cy="435133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ko-KR" altLang="en-US" sz="2400" dirty="0"/>
              <a:t>역할</a:t>
            </a:r>
            <a:r>
              <a:rPr lang="en-US" altLang="ko-KR" sz="2400" dirty="0"/>
              <a:t>: LLM</a:t>
            </a:r>
            <a:r>
              <a:rPr lang="ko-KR" altLang="en-US" sz="2400" dirty="0"/>
              <a:t>이 리소스와 툴을 더 잘 활용하도록 돕는 재사용 가능한 템플릿</a:t>
            </a:r>
            <a:br>
              <a:rPr lang="en-US" altLang="ko-KR" sz="2400" dirty="0"/>
            </a:br>
            <a:r>
              <a:rPr lang="en-US" altLang="ko-KR" sz="2400" dirty="0">
                <a:sym typeface="Wingdings" panose="05000000000000000000" pitchFamily="2" charset="2"/>
              </a:rPr>
              <a:t> </a:t>
            </a:r>
            <a:r>
              <a:rPr lang="ko-KR" altLang="en-US" sz="2400" dirty="0"/>
              <a:t>가이드 문구</a:t>
            </a:r>
            <a:r>
              <a:rPr lang="en-US" altLang="ko-KR" sz="2400" dirty="0"/>
              <a:t>, </a:t>
            </a:r>
            <a:r>
              <a:rPr lang="ko-KR" altLang="en-US" sz="2400" dirty="0"/>
              <a:t>매크로</a:t>
            </a:r>
            <a:r>
              <a:rPr lang="en-US" altLang="ko-KR" sz="2400" dirty="0"/>
              <a:t>, </a:t>
            </a:r>
            <a:r>
              <a:rPr lang="ko-KR" altLang="en-US" sz="2400" dirty="0"/>
              <a:t>템플릿 등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ko-KR" altLang="en-US" sz="2400" dirty="0"/>
              <a:t>자주 쓰이는 질문</a:t>
            </a:r>
            <a:r>
              <a:rPr lang="en-US" altLang="ko-KR" sz="2400" dirty="0"/>
              <a:t>/</a:t>
            </a:r>
            <a:r>
              <a:rPr lang="ko-KR" altLang="en-US" sz="2400" dirty="0"/>
              <a:t>명령을 표준화</a:t>
            </a:r>
          </a:p>
          <a:p>
            <a:pPr>
              <a:lnSpc>
                <a:spcPct val="100000"/>
              </a:lnSpc>
            </a:pPr>
            <a:r>
              <a:rPr lang="ko-KR" altLang="en-US" sz="2400" dirty="0"/>
              <a:t>일관성 있는 요청을 보장</a:t>
            </a:r>
          </a:p>
          <a:p>
            <a:pPr>
              <a:lnSpc>
                <a:spcPct val="100000"/>
              </a:lnSpc>
            </a:pPr>
            <a:r>
              <a:rPr lang="ko-KR" altLang="en-US" sz="2400" dirty="0"/>
              <a:t>예</a:t>
            </a:r>
            <a:r>
              <a:rPr lang="en-US" altLang="ko-KR" sz="2400" dirty="0"/>
              <a:t>: “</a:t>
            </a:r>
            <a:r>
              <a:rPr lang="ko-KR" altLang="en-US" sz="2400" dirty="0"/>
              <a:t>사용자 </a:t>
            </a:r>
            <a:r>
              <a:rPr lang="en-US" altLang="ko-KR" sz="2400" dirty="0"/>
              <a:t>ID</a:t>
            </a:r>
            <a:r>
              <a:rPr lang="ko-KR" altLang="en-US" sz="2400" dirty="0"/>
              <a:t>를 </a:t>
            </a:r>
            <a:r>
              <a:rPr lang="ko-KR" altLang="en-US" sz="2400" dirty="0" err="1"/>
              <a:t>입력받아</a:t>
            </a:r>
            <a:r>
              <a:rPr lang="ko-KR" altLang="en-US" sz="2400" dirty="0"/>
              <a:t> 주문 목록을 조회하는 표준 질문 템플릿”</a:t>
            </a:r>
            <a:br>
              <a:rPr lang="en-US" altLang="ko-KR" sz="2400" dirty="0"/>
            </a:br>
            <a:r>
              <a:rPr lang="en-US" altLang="ko-KR" sz="2400" dirty="0">
                <a:sym typeface="Wingdings" panose="05000000000000000000" pitchFamily="2" charset="2"/>
              </a:rPr>
              <a:t></a:t>
            </a:r>
            <a:r>
              <a:rPr lang="ko-KR" altLang="en-US" sz="2400" dirty="0">
                <a:sym typeface="Wingdings" panose="05000000000000000000" pitchFamily="2" charset="2"/>
              </a:rPr>
              <a:t>즉</a:t>
            </a:r>
            <a:r>
              <a:rPr lang="en-US" altLang="ko-KR" sz="2400" dirty="0">
                <a:sym typeface="Wingdings" panose="05000000000000000000" pitchFamily="2" charset="2"/>
              </a:rPr>
              <a:t>, </a:t>
            </a:r>
            <a:r>
              <a:rPr lang="en-US" altLang="ko-KR" sz="2400" dirty="0"/>
              <a:t>LLM</a:t>
            </a:r>
            <a:r>
              <a:rPr lang="ko-KR" altLang="en-US" sz="2400" dirty="0"/>
              <a:t>이 요청할 때 실수를 줄이고</a:t>
            </a:r>
            <a:r>
              <a:rPr lang="en-US" altLang="ko-KR" sz="2400" dirty="0"/>
              <a:t>, </a:t>
            </a:r>
            <a:r>
              <a:rPr lang="ko-KR" altLang="en-US" sz="2400" dirty="0"/>
              <a:t>일관된 결과를 내도록 하는 미리 작성된 대화 가이드입니다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B2A3B7-62A2-40C2-AEB6-37845AA0166A}"/>
              </a:ext>
            </a:extLst>
          </p:cNvPr>
          <p:cNvSpPr txBox="1"/>
          <p:nvPr/>
        </p:nvSpPr>
        <p:spPr>
          <a:xfrm>
            <a:off x="635000" y="152400"/>
            <a:ext cx="8686800" cy="3683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2000" b="1">
                <a:solidFill>
                  <a:srgbClr val="FFFFFF"/>
                </a:solidFill>
                <a:latin typeface="Malgun Gothic"/>
                <a:ea typeface="Malgun Gothic"/>
              </a:rPr>
              <a:t>Prompts (</a:t>
            </a:r>
            <a:r>
              <a:rPr lang="ko-KR" altLang="en-US" sz="2000" b="1">
                <a:solidFill>
                  <a:srgbClr val="FFFFFF"/>
                </a:solidFill>
                <a:latin typeface="Malgun Gothic"/>
                <a:ea typeface="Malgun Gothic"/>
              </a:rPr>
              <a:t>프롬프트</a:t>
            </a:r>
            <a:r>
              <a:rPr lang="en-US" altLang="ko-KR" sz="2000" b="1">
                <a:solidFill>
                  <a:srgbClr val="FFFFFF"/>
                </a:solidFill>
                <a:latin typeface="Malgun Gothic"/>
                <a:ea typeface="Malgun Gothic"/>
              </a:rPr>
              <a:t>)</a:t>
            </a:r>
            <a:endParaRPr lang="ko-KR" altLang="en-US" sz="20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7D0A418-1D53-482B-9BD6-0FB3E190D90E}"/>
              </a:ext>
            </a:extLst>
          </p:cNvPr>
          <p:cNvSpPr/>
          <p:nvPr/>
        </p:nvSpPr>
        <p:spPr>
          <a:xfrm>
            <a:off x="0" y="6540500"/>
            <a:ext cx="12192000" cy="3175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F7FCDA-CF6B-4B74-AE30-5CE9F181D52F}"/>
              </a:ext>
            </a:extLst>
          </p:cNvPr>
          <p:cNvSpPr txBox="1"/>
          <p:nvPr/>
        </p:nvSpPr>
        <p:spPr>
          <a:xfrm>
            <a:off x="635000" y="6578600"/>
            <a:ext cx="8229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000">
                <a:solidFill>
                  <a:srgbClr val="94A3B8"/>
                </a:solidFill>
                <a:latin typeface="Malgun Gothic"/>
                <a:ea typeface="Malgun Gothic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BB8425-C8F5-4FC6-A1CD-BAE32B0ADC90}"/>
              </a:ext>
            </a:extLst>
          </p:cNvPr>
          <p:cNvSpPr txBox="1"/>
          <p:nvPr/>
        </p:nvSpPr>
        <p:spPr>
          <a:xfrm>
            <a:off x="8966200" y="6578600"/>
            <a:ext cx="2603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94A3B8"/>
                </a:solidFill>
                <a:latin typeface="Malgun Gothic"/>
                <a:ea typeface="Malgun Gothic"/>
              </a:rPr>
              <a:t>98</a:t>
            </a:r>
            <a:endParaRPr lang="ko-KR" altLang="en-US" sz="1000">
              <a:solidFill>
                <a:srgbClr val="94A3B8"/>
              </a:solidFill>
              <a:latin typeface="Malgun Gothic"/>
              <a:ea typeface="Malgun Gothic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987DC5E-2135-45C0-9A0A-DBABD8996205}"/>
              </a:ext>
            </a:extLst>
          </p:cNvPr>
          <p:cNvSpPr/>
          <p:nvPr/>
        </p:nvSpPr>
        <p:spPr>
          <a:xfrm>
            <a:off x="596900" y="6527800"/>
            <a:ext cx="11023600" cy="12700"/>
          </a:xfrm>
          <a:prstGeom prst="rect">
            <a:avLst/>
          </a:prstGeom>
          <a:solidFill>
            <a:srgbClr val="D6DE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4242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1F1E8-36C7-B49E-951F-B8B096D24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6997A68-C69B-4029-A19C-5D3980F29311}"/>
              </a:ext>
            </a:extLst>
          </p:cNvPr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0B1F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185DF2-09C7-EA6D-268F-8967AE3B7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3504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400" dirty="0" err="1"/>
              <a:t>Stdio</a:t>
            </a:r>
            <a:r>
              <a:rPr lang="en-US" altLang="ko-KR" sz="2400" dirty="0"/>
              <a:t> (Standard In/Output)</a:t>
            </a:r>
            <a:br>
              <a:rPr lang="en-US" altLang="ko-KR" sz="2400" dirty="0"/>
            </a:br>
            <a:r>
              <a:rPr lang="ko-KR" altLang="en-US" sz="2400" dirty="0"/>
              <a:t>서버와 클라이언트가 동일한 프로세스 내에서 작동하거나 모델을 </a:t>
            </a:r>
            <a:r>
              <a:rPr lang="en-US" altLang="ko-KR" sz="2400" dirty="0"/>
              <a:t>local</a:t>
            </a:r>
            <a:r>
              <a:rPr lang="ko-KR" altLang="en-US" sz="2400" dirty="0"/>
              <a:t>에서 실행할 때 사용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en-US" altLang="ko-KR" sz="2400" dirty="0"/>
              <a:t>SSE (Server-Sent Events)</a:t>
            </a:r>
          </a:p>
          <a:p>
            <a:pPr lvl="1">
              <a:lnSpc>
                <a:spcPct val="100000"/>
              </a:lnSpc>
            </a:pPr>
            <a:r>
              <a:rPr lang="ko-KR" altLang="en-US" dirty="0"/>
              <a:t>서버와 클라이언트 간 효율적인 단방향 통신</a:t>
            </a:r>
            <a:r>
              <a:rPr lang="en-US" altLang="ko-KR" dirty="0"/>
              <a:t>(HTTP </a:t>
            </a:r>
            <a:r>
              <a:rPr lang="ko-KR" altLang="en-US" dirty="0"/>
              <a:t>연결</a:t>
            </a:r>
            <a:r>
              <a:rPr lang="en-US" altLang="ko-KR" dirty="0"/>
              <a:t>)</a:t>
            </a:r>
            <a:r>
              <a:rPr lang="ko-KR" altLang="en-US" dirty="0"/>
              <a:t>을 통해 간단한 실시간 데이터 업데이트를 구현할 때 사용</a:t>
            </a:r>
            <a:r>
              <a:rPr lang="en-US" altLang="ko-KR" dirty="0"/>
              <a:t>.</a:t>
            </a:r>
          </a:p>
          <a:p>
            <a:pPr lvl="1">
              <a:lnSpc>
                <a:spcPct val="100000"/>
              </a:lnSpc>
            </a:pPr>
            <a:r>
              <a:rPr lang="ko-KR" altLang="en-US" dirty="0"/>
              <a:t>모델의 </a:t>
            </a:r>
            <a:r>
              <a:rPr lang="en-US" altLang="ko-KR" dirty="0"/>
              <a:t>steaming </a:t>
            </a:r>
            <a:r>
              <a:rPr lang="ko-KR" altLang="en-US" dirty="0"/>
              <a:t>출력을 실시간으로 받아야 할 때 사용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A06CD9-2509-4133-AEA6-F8ACAB36ACD6}"/>
              </a:ext>
            </a:extLst>
          </p:cNvPr>
          <p:cNvSpPr txBox="1"/>
          <p:nvPr/>
        </p:nvSpPr>
        <p:spPr>
          <a:xfrm>
            <a:off x="635000" y="152400"/>
            <a:ext cx="8686800" cy="3683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2000" b="1">
                <a:solidFill>
                  <a:srgbClr val="FFFFFF"/>
                </a:solidFill>
                <a:latin typeface="Malgun Gothic"/>
                <a:ea typeface="Malgun Gothic"/>
              </a:rPr>
              <a:t>MCP </a:t>
            </a:r>
            <a:r>
              <a:rPr lang="ko-KR" altLang="en-US" sz="2000" b="1">
                <a:solidFill>
                  <a:srgbClr val="FFFFFF"/>
                </a:solidFill>
                <a:latin typeface="Malgun Gothic"/>
                <a:ea typeface="Malgun Gothic"/>
              </a:rPr>
              <a:t>표준 전송 유형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3FF7A90-C5B3-4414-AB31-2C275FB387D4}"/>
              </a:ext>
            </a:extLst>
          </p:cNvPr>
          <p:cNvSpPr/>
          <p:nvPr/>
        </p:nvSpPr>
        <p:spPr>
          <a:xfrm>
            <a:off x="0" y="6540500"/>
            <a:ext cx="12192000" cy="3175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12302-B166-4659-B9B8-1A5FFB79FED0}"/>
              </a:ext>
            </a:extLst>
          </p:cNvPr>
          <p:cNvSpPr txBox="1"/>
          <p:nvPr/>
        </p:nvSpPr>
        <p:spPr>
          <a:xfrm>
            <a:off x="635000" y="6578600"/>
            <a:ext cx="8229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000">
                <a:solidFill>
                  <a:srgbClr val="94A3B8"/>
                </a:solidFill>
                <a:latin typeface="Malgun Gothic"/>
                <a:ea typeface="Malgun Gothic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28D67C-1FC2-403B-915A-8964C8F39915}"/>
              </a:ext>
            </a:extLst>
          </p:cNvPr>
          <p:cNvSpPr txBox="1"/>
          <p:nvPr/>
        </p:nvSpPr>
        <p:spPr>
          <a:xfrm>
            <a:off x="8966200" y="6578600"/>
            <a:ext cx="2603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94A3B8"/>
                </a:solidFill>
                <a:latin typeface="Malgun Gothic"/>
                <a:ea typeface="Malgun Gothic"/>
              </a:rPr>
              <a:t>99</a:t>
            </a:r>
            <a:endParaRPr lang="ko-KR" altLang="en-US" sz="1000">
              <a:solidFill>
                <a:srgbClr val="94A3B8"/>
              </a:solidFill>
              <a:latin typeface="Malgun Gothic"/>
              <a:ea typeface="Malgun Gothic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F863AAA-34ED-49D1-8EE9-DF2FA0E7AA37}"/>
              </a:ext>
            </a:extLst>
          </p:cNvPr>
          <p:cNvSpPr/>
          <p:nvPr/>
        </p:nvSpPr>
        <p:spPr>
          <a:xfrm>
            <a:off x="596900" y="6527800"/>
            <a:ext cx="11023600" cy="12700"/>
          </a:xfrm>
          <a:prstGeom prst="rect">
            <a:avLst/>
          </a:prstGeom>
          <a:solidFill>
            <a:srgbClr val="D6DE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367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7E472-CE14-F818-10DE-FE837F685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0ABFEBFD-E599-4A87-BF0B-5C125EEF8AF5}"/>
              </a:ext>
            </a:extLst>
          </p:cNvPr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0B1F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4BE5BC6-BE04-6850-0E41-4B38545E6D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6497" y="1161319"/>
            <a:ext cx="8025243" cy="4911281"/>
          </a:xfrm>
          <a:ln>
            <a:solidFill>
              <a:schemeClr val="accent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D7CD18-80DF-4CC0-0263-E4AE790D9D8E}"/>
              </a:ext>
            </a:extLst>
          </p:cNvPr>
          <p:cNvSpPr txBox="1"/>
          <p:nvPr/>
        </p:nvSpPr>
        <p:spPr>
          <a:xfrm>
            <a:off x="8724610" y="2153005"/>
            <a:ext cx="2973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Stdio</a:t>
            </a:r>
            <a:r>
              <a:rPr lang="en-US" altLang="ko-KR" dirty="0"/>
              <a:t> (Standard In/Output)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0C49D0-F68C-D053-C8FE-2C598C6D7D4D}"/>
              </a:ext>
            </a:extLst>
          </p:cNvPr>
          <p:cNvSpPr txBox="1"/>
          <p:nvPr/>
        </p:nvSpPr>
        <p:spPr>
          <a:xfrm>
            <a:off x="8724610" y="4650413"/>
            <a:ext cx="2720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SSE (Server-Sent Events)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BAE49D-A69F-4360-B724-8C942910D8E5}"/>
              </a:ext>
            </a:extLst>
          </p:cNvPr>
          <p:cNvSpPr txBox="1"/>
          <p:nvPr/>
        </p:nvSpPr>
        <p:spPr>
          <a:xfrm>
            <a:off x="635000" y="152400"/>
            <a:ext cx="8686800" cy="3683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2000" b="1">
                <a:solidFill>
                  <a:srgbClr val="FFFFFF"/>
                </a:solidFill>
                <a:latin typeface="Malgun Gothic"/>
                <a:ea typeface="Malgun Gothic"/>
              </a:rPr>
              <a:t>Local/Remote MCP</a:t>
            </a:r>
            <a:endParaRPr lang="ko-KR" altLang="en-US" sz="20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87D288-DA09-4AE7-8C58-21743423B865}"/>
              </a:ext>
            </a:extLst>
          </p:cNvPr>
          <p:cNvSpPr/>
          <p:nvPr/>
        </p:nvSpPr>
        <p:spPr>
          <a:xfrm>
            <a:off x="0" y="6540500"/>
            <a:ext cx="12192000" cy="3175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192335-B714-4A91-9813-367DAE8F8EB2}"/>
              </a:ext>
            </a:extLst>
          </p:cNvPr>
          <p:cNvSpPr txBox="1"/>
          <p:nvPr/>
        </p:nvSpPr>
        <p:spPr>
          <a:xfrm>
            <a:off x="635000" y="6142663"/>
            <a:ext cx="8229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000">
                <a:solidFill>
                  <a:srgbClr val="94A3B8"/>
                </a:solidFill>
                <a:latin typeface="Malgun Gothic"/>
                <a:ea typeface="Malgun Gothic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3C4E0F-4F55-44A1-969F-ABA508222F60}"/>
              </a:ext>
            </a:extLst>
          </p:cNvPr>
          <p:cNvSpPr txBox="1"/>
          <p:nvPr/>
        </p:nvSpPr>
        <p:spPr>
          <a:xfrm>
            <a:off x="8966200" y="6142663"/>
            <a:ext cx="2603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94A3B8"/>
                </a:solidFill>
                <a:latin typeface="Malgun Gothic"/>
                <a:ea typeface="Malgun Gothic"/>
              </a:rPr>
              <a:t>100</a:t>
            </a:r>
            <a:endParaRPr lang="ko-KR" altLang="en-US" sz="1000">
              <a:solidFill>
                <a:srgbClr val="94A3B8"/>
              </a:solidFill>
              <a:latin typeface="Malgun Gothic"/>
              <a:ea typeface="Malgun Gothic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AEE4A24-7C1B-4323-A98C-EC8E909DB3E6}"/>
              </a:ext>
            </a:extLst>
          </p:cNvPr>
          <p:cNvSpPr/>
          <p:nvPr/>
        </p:nvSpPr>
        <p:spPr>
          <a:xfrm>
            <a:off x="596900" y="6091863"/>
            <a:ext cx="11023600" cy="12700"/>
          </a:xfrm>
          <a:prstGeom prst="rect">
            <a:avLst/>
          </a:prstGeom>
          <a:solidFill>
            <a:srgbClr val="D6DE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726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8B866D4-4773-46F2-ACD8-1B723C4C2849}"/>
              </a:ext>
            </a:extLst>
          </p:cNvPr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0B1F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6E35B4D-0834-2720-0459-111AC9E4F3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31320" y="1418431"/>
            <a:ext cx="8436630" cy="4351338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BD0375-0B57-4DFF-B387-0039A1DD44BB}"/>
              </a:ext>
            </a:extLst>
          </p:cNvPr>
          <p:cNvSpPr txBox="1"/>
          <p:nvPr/>
        </p:nvSpPr>
        <p:spPr>
          <a:xfrm>
            <a:off x="635000" y="152400"/>
            <a:ext cx="8686800" cy="3683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2000" b="1">
                <a:solidFill>
                  <a:srgbClr val="FFFFFF"/>
                </a:solidFill>
                <a:latin typeface="Malgun Gothic"/>
                <a:ea typeface="Malgun Gothic"/>
              </a:rPr>
              <a:t>Smithery – MCP Marketplace</a:t>
            </a:r>
            <a:endParaRPr lang="ko-KR" altLang="en-US" sz="20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AE5972D-C846-47B2-B6B3-E85871938B68}"/>
              </a:ext>
            </a:extLst>
          </p:cNvPr>
          <p:cNvSpPr/>
          <p:nvPr/>
        </p:nvSpPr>
        <p:spPr>
          <a:xfrm>
            <a:off x="0" y="6540500"/>
            <a:ext cx="12192000" cy="3175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19B525-18A1-497C-A1EB-5A88E84A3CDE}"/>
              </a:ext>
            </a:extLst>
          </p:cNvPr>
          <p:cNvSpPr txBox="1"/>
          <p:nvPr/>
        </p:nvSpPr>
        <p:spPr>
          <a:xfrm>
            <a:off x="635000" y="6578600"/>
            <a:ext cx="8229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000">
                <a:solidFill>
                  <a:srgbClr val="94A3B8"/>
                </a:solidFill>
                <a:latin typeface="Malgun Gothic"/>
                <a:ea typeface="Malgun Gothic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838C7D-9BEC-46D1-A50F-BD51C8D83B99}"/>
              </a:ext>
            </a:extLst>
          </p:cNvPr>
          <p:cNvSpPr txBox="1"/>
          <p:nvPr/>
        </p:nvSpPr>
        <p:spPr>
          <a:xfrm>
            <a:off x="8966200" y="6578600"/>
            <a:ext cx="2603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94A3B8"/>
                </a:solidFill>
                <a:latin typeface="Malgun Gothic"/>
                <a:ea typeface="Malgun Gothic"/>
              </a:rPr>
              <a:t>101</a:t>
            </a:r>
            <a:endParaRPr lang="ko-KR" altLang="en-US" sz="1000">
              <a:solidFill>
                <a:srgbClr val="94A3B8"/>
              </a:solidFill>
              <a:latin typeface="Malgun Gothic"/>
              <a:ea typeface="Malgun Gothic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65CCFD4-8623-4D4D-8042-2C816937C39C}"/>
              </a:ext>
            </a:extLst>
          </p:cNvPr>
          <p:cNvSpPr/>
          <p:nvPr/>
        </p:nvSpPr>
        <p:spPr>
          <a:xfrm>
            <a:off x="596900" y="6527800"/>
            <a:ext cx="11023600" cy="12700"/>
          </a:xfrm>
          <a:prstGeom prst="rect">
            <a:avLst/>
          </a:prstGeom>
          <a:solidFill>
            <a:srgbClr val="D6DE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1464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77D6B-8F6D-B8D5-4E07-036013ABC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EADC07E-DA79-46C5-A354-510D0D4C3136}"/>
              </a:ext>
            </a:extLst>
          </p:cNvPr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0B1F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0FC46919-3841-6CDC-F53C-1B13FD7A30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6323" y="1982965"/>
            <a:ext cx="8968092" cy="358914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DC0B4E4-E59B-B543-ECE4-5479E8AD2C10}"/>
              </a:ext>
            </a:extLst>
          </p:cNvPr>
          <p:cNvSpPr/>
          <p:nvPr/>
        </p:nvSpPr>
        <p:spPr>
          <a:xfrm>
            <a:off x="7528956" y="4246543"/>
            <a:ext cx="2933205" cy="132556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63D9E42-102E-F229-4335-4D191134C168}"/>
              </a:ext>
            </a:extLst>
          </p:cNvPr>
          <p:cNvSpPr txBox="1">
            <a:spLocks/>
          </p:cNvSpPr>
          <p:nvPr/>
        </p:nvSpPr>
        <p:spPr>
          <a:xfrm>
            <a:off x="990600" y="1209210"/>
            <a:ext cx="10515600" cy="5106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600" dirty="0">
                <a:hlinkClick r:id="rId3"/>
              </a:rPr>
              <a:t>https://github.com/langchain-ai/langchain-mcp-adapters</a:t>
            </a:r>
            <a:endParaRPr lang="ko-KR" altLang="en-US" sz="2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E7154B-A978-48ED-9B2F-40D9500D6FDA}"/>
              </a:ext>
            </a:extLst>
          </p:cNvPr>
          <p:cNvSpPr txBox="1"/>
          <p:nvPr/>
        </p:nvSpPr>
        <p:spPr>
          <a:xfrm>
            <a:off x="635000" y="152400"/>
            <a:ext cx="8686800" cy="3683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2000" b="1">
                <a:solidFill>
                  <a:srgbClr val="FFFFFF"/>
                </a:solidFill>
                <a:latin typeface="Malgun Gothic"/>
                <a:ea typeface="Malgun Gothic"/>
              </a:rPr>
              <a:t>LangChain MCP Adapters</a:t>
            </a:r>
            <a:endParaRPr lang="ko-KR" altLang="en-US" sz="20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97BDED7-3103-47CE-9809-892CFA222A80}"/>
              </a:ext>
            </a:extLst>
          </p:cNvPr>
          <p:cNvSpPr/>
          <p:nvPr/>
        </p:nvSpPr>
        <p:spPr>
          <a:xfrm>
            <a:off x="0" y="6540500"/>
            <a:ext cx="12192000" cy="3175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ACD88E-0F65-4241-885D-18817406CCD8}"/>
              </a:ext>
            </a:extLst>
          </p:cNvPr>
          <p:cNvSpPr txBox="1"/>
          <p:nvPr/>
        </p:nvSpPr>
        <p:spPr>
          <a:xfrm>
            <a:off x="635000" y="6578600"/>
            <a:ext cx="8229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000">
                <a:solidFill>
                  <a:srgbClr val="94A3B8"/>
                </a:solidFill>
                <a:latin typeface="Malgun Gothic"/>
                <a:ea typeface="Malgun Gothic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B8B69E-76AE-48BE-B767-A43D49292102}"/>
              </a:ext>
            </a:extLst>
          </p:cNvPr>
          <p:cNvSpPr txBox="1"/>
          <p:nvPr/>
        </p:nvSpPr>
        <p:spPr>
          <a:xfrm>
            <a:off x="8966200" y="6578600"/>
            <a:ext cx="2603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94A3B8"/>
                </a:solidFill>
                <a:latin typeface="Malgun Gothic"/>
                <a:ea typeface="Malgun Gothic"/>
              </a:rPr>
              <a:t>102</a:t>
            </a:r>
            <a:endParaRPr lang="ko-KR" altLang="en-US" sz="1000">
              <a:solidFill>
                <a:srgbClr val="94A3B8"/>
              </a:solidFill>
              <a:latin typeface="Malgun Gothic"/>
              <a:ea typeface="Malgun Gothic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14A2E2C-A912-4A8B-84B4-653D9B15A245}"/>
              </a:ext>
            </a:extLst>
          </p:cNvPr>
          <p:cNvSpPr/>
          <p:nvPr/>
        </p:nvSpPr>
        <p:spPr>
          <a:xfrm>
            <a:off x="596900" y="6527800"/>
            <a:ext cx="11023600" cy="12700"/>
          </a:xfrm>
          <a:prstGeom prst="rect">
            <a:avLst/>
          </a:prstGeom>
          <a:solidFill>
            <a:srgbClr val="D6DE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860E40-BF72-4E3A-7E85-C5FDE25EB30D}"/>
              </a:ext>
            </a:extLst>
          </p:cNvPr>
          <p:cNvSpPr txBox="1"/>
          <p:nvPr/>
        </p:nvSpPr>
        <p:spPr>
          <a:xfrm>
            <a:off x="2292096" y="2083993"/>
            <a:ext cx="5501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b="1" dirty="0">
                <a:solidFill>
                  <a:srgbClr val="FF0000"/>
                </a:solidFill>
              </a:rPr>
              <a:t>(1)</a:t>
            </a:r>
            <a:endParaRPr lang="ko-KR" altLang="en-US" sz="2200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8FFF7E-6E0D-FF01-D5F1-ED6081DCC32F}"/>
              </a:ext>
            </a:extLst>
          </p:cNvPr>
          <p:cNvSpPr txBox="1"/>
          <p:nvPr/>
        </p:nvSpPr>
        <p:spPr>
          <a:xfrm>
            <a:off x="6589776" y="5199049"/>
            <a:ext cx="5501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b="1" dirty="0">
                <a:solidFill>
                  <a:srgbClr val="FF0000"/>
                </a:solidFill>
              </a:rPr>
              <a:t>(2)</a:t>
            </a:r>
            <a:endParaRPr lang="ko-KR" altLang="en-US" sz="2200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DA8A33-ED27-6CE2-F1E5-BBC709F6E488}"/>
              </a:ext>
            </a:extLst>
          </p:cNvPr>
          <p:cNvSpPr txBox="1"/>
          <p:nvPr/>
        </p:nvSpPr>
        <p:spPr>
          <a:xfrm>
            <a:off x="9363456" y="5522137"/>
            <a:ext cx="5501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b="1" dirty="0">
                <a:solidFill>
                  <a:srgbClr val="FF0000"/>
                </a:solidFill>
              </a:rPr>
              <a:t>(3)</a:t>
            </a:r>
            <a:endParaRPr lang="ko-KR" altLang="en-US" sz="2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27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0626B9C1-AE9D-416D-83E8-FA2B36739C4D}"/>
              </a:ext>
            </a:extLst>
          </p:cNvPr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0B1F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ED02D61-6352-5DCD-788D-A5EC42DDC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12" y="2045775"/>
            <a:ext cx="4498376" cy="29303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04AB802-8B3A-819F-BD1F-CCD69A641BA6}"/>
              </a:ext>
            </a:extLst>
          </p:cNvPr>
          <p:cNvSpPr txBox="1"/>
          <p:nvPr/>
        </p:nvSpPr>
        <p:spPr>
          <a:xfrm>
            <a:off x="5329588" y="1525774"/>
            <a:ext cx="5846472" cy="397031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@asynccontextmanager</a:t>
            </a:r>
          </a:p>
          <a:p>
            <a:r>
              <a:rPr lang="en-US" altLang="ko-KR" dirty="0"/>
              <a:t>lifespan - </a:t>
            </a:r>
            <a:r>
              <a:rPr lang="ko-KR" altLang="en-US" dirty="0"/>
              <a:t>서버 시작</a:t>
            </a:r>
            <a:r>
              <a:rPr lang="en-US" altLang="ko-KR" dirty="0"/>
              <a:t>/</a:t>
            </a:r>
            <a:r>
              <a:rPr lang="ko-KR" altLang="en-US" dirty="0"/>
              <a:t>종료 시 데이터베이스 연결 관리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@mcp.tool</a:t>
            </a:r>
          </a:p>
          <a:p>
            <a:r>
              <a:rPr lang="en-US" altLang="ko-KR" dirty="0" err="1"/>
              <a:t>execute_sql_quer</a:t>
            </a:r>
            <a:r>
              <a:rPr lang="en-US" altLang="ko-KR" dirty="0"/>
              <a:t> - SQL </a:t>
            </a:r>
            <a:r>
              <a:rPr lang="ko-KR" altLang="en-US" dirty="0"/>
              <a:t>쿼리를 실행하고 결과를 반환</a:t>
            </a:r>
          </a:p>
          <a:p>
            <a:r>
              <a:rPr lang="en-US" altLang="ko-KR" dirty="0" err="1"/>
              <a:t>get_table_schema</a:t>
            </a:r>
            <a:r>
              <a:rPr lang="en-US" altLang="ko-KR" dirty="0"/>
              <a:t> - </a:t>
            </a:r>
            <a:r>
              <a:rPr lang="ko-KR" altLang="en-US" dirty="0"/>
              <a:t>특정 테이블의 스키마 정보를 반환</a:t>
            </a:r>
          </a:p>
          <a:p>
            <a:r>
              <a:rPr lang="en-US" altLang="ko-KR" dirty="0" err="1"/>
              <a:t>list_tables</a:t>
            </a:r>
            <a:r>
              <a:rPr lang="en-US" altLang="ko-KR" dirty="0"/>
              <a:t> - </a:t>
            </a:r>
            <a:r>
              <a:rPr lang="ko-KR" altLang="en-US" dirty="0"/>
              <a:t>데이터베이스의 모든 테이블 목록을 반환</a:t>
            </a:r>
          </a:p>
          <a:p>
            <a:r>
              <a:rPr lang="en-US" altLang="ko-KR" dirty="0" err="1"/>
              <a:t>validate_sql_query</a:t>
            </a:r>
            <a:r>
              <a:rPr lang="en-US" altLang="ko-KR" dirty="0"/>
              <a:t> - SQL </a:t>
            </a:r>
            <a:r>
              <a:rPr lang="ko-KR" altLang="en-US" dirty="0"/>
              <a:t>쿼리의 문법을 검증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@mcp.resource</a:t>
            </a:r>
          </a:p>
          <a:p>
            <a:r>
              <a:rPr lang="en-US" altLang="ko-KR" dirty="0" err="1"/>
              <a:t>get_database_info</a:t>
            </a:r>
            <a:r>
              <a:rPr lang="en-US" altLang="ko-KR" dirty="0"/>
              <a:t> - Chinook database </a:t>
            </a:r>
            <a:r>
              <a:rPr lang="ko-KR" altLang="en-US" dirty="0"/>
              <a:t>정보</a:t>
            </a:r>
            <a:endParaRPr lang="en-US" altLang="ko-KR" dirty="0"/>
          </a:p>
          <a:p>
            <a:r>
              <a:rPr lang="en-US" altLang="ko-KR" dirty="0" err="1"/>
              <a:t>get_table_info</a:t>
            </a:r>
            <a:r>
              <a:rPr lang="en-US" altLang="ko-KR" dirty="0"/>
              <a:t> – </a:t>
            </a:r>
            <a:r>
              <a:rPr lang="ko-KR" altLang="en-US" dirty="0"/>
              <a:t>특정 </a:t>
            </a:r>
            <a:r>
              <a:rPr lang="en-US" altLang="ko-KR" dirty="0"/>
              <a:t>table </a:t>
            </a:r>
            <a:r>
              <a:rPr lang="ko-KR" altLang="en-US" dirty="0"/>
              <a:t>정보</a:t>
            </a:r>
            <a:endParaRPr lang="en-US" altLang="ko-KR" dirty="0"/>
          </a:p>
          <a:p>
            <a:r>
              <a:rPr lang="en-US" altLang="ko-KR" dirty="0"/>
              <a:t>@mcp.prompt</a:t>
            </a:r>
          </a:p>
          <a:p>
            <a:r>
              <a:rPr lang="en-US" altLang="ko-KR" dirty="0" err="1"/>
              <a:t>default_prompt</a:t>
            </a:r>
            <a:r>
              <a:rPr lang="ko-KR" altLang="en-US" dirty="0"/>
              <a:t> </a:t>
            </a:r>
            <a:r>
              <a:rPr lang="en-US" altLang="ko-KR" dirty="0"/>
              <a:t>-</a:t>
            </a:r>
            <a:r>
              <a:rPr lang="ko-KR" altLang="en-US" dirty="0"/>
              <a:t> </a:t>
            </a:r>
            <a:r>
              <a:rPr lang="en-US" altLang="ko-KR" dirty="0" err="1"/>
              <a:t>base.AssistantMessage</a:t>
            </a:r>
            <a:r>
              <a:rPr lang="en-US" altLang="ko-KR" dirty="0"/>
              <a:t> </a:t>
            </a:r>
            <a:r>
              <a:rPr lang="ko-KR" altLang="en-US" dirty="0"/>
              <a:t>반환</a:t>
            </a:r>
            <a:endParaRPr lang="en-US" altLang="ko-K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8CE0FE-FA6C-3692-DB6D-2746918F59EC}"/>
              </a:ext>
            </a:extLst>
          </p:cNvPr>
          <p:cNvSpPr txBox="1"/>
          <p:nvPr/>
        </p:nvSpPr>
        <p:spPr>
          <a:xfrm>
            <a:off x="5390261" y="1137793"/>
            <a:ext cx="1411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MCP Server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9615E8-FA57-79D5-6C8B-755CFCAB81DC}"/>
              </a:ext>
            </a:extLst>
          </p:cNvPr>
          <p:cNvSpPr txBox="1"/>
          <p:nvPr/>
        </p:nvSpPr>
        <p:spPr>
          <a:xfrm>
            <a:off x="2671138" y="4912132"/>
            <a:ext cx="1866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LangGraph </a:t>
            </a:r>
            <a:r>
              <a:rPr lang="ko-KR" altLang="en-US" dirty="0"/>
              <a:t>이용</a:t>
            </a:r>
            <a:endParaRPr lang="en-US" altLang="ko-KR" dirty="0"/>
          </a:p>
          <a:p>
            <a:r>
              <a:rPr lang="en-US" altLang="ko-KR" dirty="0"/>
              <a:t>Chatbot </a:t>
            </a:r>
            <a:r>
              <a:rPr lang="ko-KR" altLang="en-US" dirty="0"/>
              <a:t>구현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41670F8-22B2-4EFB-97F9-7748E77EA610}"/>
              </a:ext>
            </a:extLst>
          </p:cNvPr>
          <p:cNvSpPr/>
          <p:nvPr/>
        </p:nvSpPr>
        <p:spPr>
          <a:xfrm>
            <a:off x="0" y="6540500"/>
            <a:ext cx="12192000" cy="3175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47874-E50C-4798-887D-35DAB9260D07}"/>
              </a:ext>
            </a:extLst>
          </p:cNvPr>
          <p:cNvSpPr txBox="1"/>
          <p:nvPr/>
        </p:nvSpPr>
        <p:spPr>
          <a:xfrm>
            <a:off x="635000" y="6578600"/>
            <a:ext cx="8229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000">
                <a:solidFill>
                  <a:srgbClr val="94A3B8"/>
                </a:solidFill>
                <a:latin typeface="Malgun Gothic"/>
                <a:ea typeface="Malgun Gothic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AF0B79-1438-46CA-9F63-D28E6D948D31}"/>
              </a:ext>
            </a:extLst>
          </p:cNvPr>
          <p:cNvSpPr txBox="1"/>
          <p:nvPr/>
        </p:nvSpPr>
        <p:spPr>
          <a:xfrm>
            <a:off x="8966200" y="6578600"/>
            <a:ext cx="2603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94A3B8"/>
                </a:solidFill>
                <a:latin typeface="Malgun Gothic"/>
                <a:ea typeface="Malgun Gothic"/>
              </a:rPr>
              <a:t>109</a:t>
            </a:r>
            <a:endParaRPr lang="ko-KR" altLang="en-US" sz="1000">
              <a:solidFill>
                <a:srgbClr val="94A3B8"/>
              </a:solidFill>
              <a:latin typeface="Malgun Gothic"/>
              <a:ea typeface="Malgun Gothic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8DE5213-5478-4E66-9D62-31BE09186221}"/>
              </a:ext>
            </a:extLst>
          </p:cNvPr>
          <p:cNvSpPr/>
          <p:nvPr/>
        </p:nvSpPr>
        <p:spPr>
          <a:xfrm>
            <a:off x="596900" y="6228824"/>
            <a:ext cx="11023600" cy="12700"/>
          </a:xfrm>
          <a:prstGeom prst="rect">
            <a:avLst/>
          </a:prstGeom>
          <a:solidFill>
            <a:srgbClr val="D6DE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3CF954-255B-884C-AADB-227DE19A8F07}"/>
              </a:ext>
            </a:extLst>
          </p:cNvPr>
          <p:cNvSpPr txBox="1"/>
          <p:nvPr/>
        </p:nvSpPr>
        <p:spPr>
          <a:xfrm>
            <a:off x="8278368" y="1035481"/>
            <a:ext cx="5501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b="1" dirty="0">
                <a:solidFill>
                  <a:srgbClr val="FF0000"/>
                </a:solidFill>
              </a:rPr>
              <a:t>(1)</a:t>
            </a:r>
            <a:endParaRPr lang="ko-KR" altLang="en-US" sz="2200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4EE1F-3560-B4C3-940A-23CC45AC4431}"/>
              </a:ext>
            </a:extLst>
          </p:cNvPr>
          <p:cNvSpPr txBox="1"/>
          <p:nvPr/>
        </p:nvSpPr>
        <p:spPr>
          <a:xfrm>
            <a:off x="3119221" y="4413746"/>
            <a:ext cx="5501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b="1" dirty="0">
                <a:solidFill>
                  <a:srgbClr val="FF0000"/>
                </a:solidFill>
              </a:rPr>
              <a:t>(2)</a:t>
            </a:r>
            <a:endParaRPr lang="ko-KR" altLang="en-US" sz="22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7B71DA-4F7E-E629-E4DA-1D8967AFF997}"/>
              </a:ext>
            </a:extLst>
          </p:cNvPr>
          <p:cNvSpPr txBox="1"/>
          <p:nvPr/>
        </p:nvSpPr>
        <p:spPr>
          <a:xfrm>
            <a:off x="1366199" y="4479248"/>
            <a:ext cx="55015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200" b="1" dirty="0">
                <a:solidFill>
                  <a:srgbClr val="FF0000"/>
                </a:solidFill>
              </a:rPr>
              <a:t>(3)</a:t>
            </a:r>
            <a:endParaRPr lang="ko-KR" altLang="en-US" sz="2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289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8D67E-92DA-CDCF-DACC-525B0062D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94CC8C2-B04F-49C1-AF48-A473226F349F}"/>
              </a:ext>
            </a:extLst>
          </p:cNvPr>
          <p:cNvSpPr/>
          <p:nvPr/>
        </p:nvSpPr>
        <p:spPr>
          <a:xfrm>
            <a:off x="0" y="0"/>
            <a:ext cx="12192000" cy="660400"/>
          </a:xfrm>
          <a:prstGeom prst="rect">
            <a:avLst/>
          </a:prstGeom>
          <a:solidFill>
            <a:srgbClr val="0B1F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D55FDA-8020-BDF8-ECBF-B2637BADB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8546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400" dirty="0"/>
              <a:t>SDK (Software Development Toolkit) </a:t>
            </a:r>
            <a:br>
              <a:rPr lang="en-US" altLang="ko-KR" sz="2400" dirty="0"/>
            </a:br>
            <a:r>
              <a:rPr lang="en-US" altLang="ko-KR" sz="2400" dirty="0"/>
              <a:t>– </a:t>
            </a:r>
            <a:r>
              <a:rPr lang="ko-KR" altLang="en-US" sz="2400" dirty="0"/>
              <a:t>개발자가 특정 플랫폼용 앱을 개발할 수 있도록 하는 도구 모음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ko-KR" altLang="en-US" sz="2400" dirty="0"/>
              <a:t>모든 </a:t>
            </a:r>
            <a:r>
              <a:rPr lang="en-US" altLang="ko-KR" sz="2400" dirty="0"/>
              <a:t>MCP </a:t>
            </a:r>
            <a:r>
              <a:rPr lang="ko-KR" altLang="en-US" sz="2400" dirty="0"/>
              <a:t>서버에 연결할 수 있는 </a:t>
            </a:r>
            <a:r>
              <a:rPr lang="en-US" altLang="ko-KR" sz="2400" dirty="0"/>
              <a:t>MCP </a:t>
            </a:r>
            <a:r>
              <a:rPr lang="ko-KR" altLang="en-US" sz="2400" dirty="0"/>
              <a:t>클라이언트를 구축할 수 있음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ko-KR" altLang="en-US" sz="2400" dirty="0"/>
              <a:t>리소스</a:t>
            </a:r>
            <a:r>
              <a:rPr lang="en-US" altLang="ko-KR" sz="2400" dirty="0"/>
              <a:t>, </a:t>
            </a:r>
            <a:r>
              <a:rPr lang="ko-KR" altLang="en-US" sz="2400" dirty="0"/>
              <a:t>프롬프트 및 도구를 노출하는 </a:t>
            </a:r>
            <a:r>
              <a:rPr lang="en-US" altLang="ko-KR" sz="2400" dirty="0"/>
              <a:t>MCP </a:t>
            </a:r>
            <a:r>
              <a:rPr lang="ko-KR" altLang="en-US" sz="2400" dirty="0"/>
              <a:t>서버를 만들 수 있음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en-US" altLang="ko-KR" sz="2400" dirty="0" err="1"/>
              <a:t>stdio</a:t>
            </a:r>
            <a:r>
              <a:rPr lang="en-US" altLang="ko-KR" sz="2400" dirty="0"/>
              <a:t>, SSE, </a:t>
            </a:r>
            <a:r>
              <a:rPr lang="en-US" altLang="ko-KR" sz="2400" dirty="0" err="1"/>
              <a:t>Streamable</a:t>
            </a:r>
            <a:r>
              <a:rPr lang="en-US" altLang="ko-KR" sz="2400" dirty="0"/>
              <a:t> HTTP</a:t>
            </a:r>
            <a:r>
              <a:rPr lang="ko-KR" altLang="en-US" sz="2400" dirty="0"/>
              <a:t>와 같은 표준 전송을 사용</a:t>
            </a:r>
          </a:p>
          <a:p>
            <a:pPr>
              <a:lnSpc>
                <a:spcPct val="100000"/>
              </a:lnSpc>
            </a:pPr>
            <a:r>
              <a:rPr lang="ko-KR" altLang="en-US" sz="2400" dirty="0"/>
              <a:t>모든 </a:t>
            </a:r>
            <a:r>
              <a:rPr lang="en-US" altLang="ko-KR" sz="2400" dirty="0"/>
              <a:t>MCP </a:t>
            </a:r>
            <a:r>
              <a:rPr lang="ko-KR" altLang="en-US" sz="2400" dirty="0"/>
              <a:t>프로토콜 메시지 및 수명 주기 이벤트를 처리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endParaRPr lang="ko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0775EC-AAEB-499E-99D5-EC4058CC05EF}"/>
              </a:ext>
            </a:extLst>
          </p:cNvPr>
          <p:cNvSpPr txBox="1"/>
          <p:nvPr/>
        </p:nvSpPr>
        <p:spPr>
          <a:xfrm>
            <a:off x="635000" y="152400"/>
            <a:ext cx="8686800" cy="3683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altLang="ko-KR" sz="2000" b="1">
                <a:solidFill>
                  <a:srgbClr val="FFFFFF"/>
                </a:solidFill>
                <a:latin typeface="Malgun Gothic"/>
                <a:ea typeface="Malgun Gothic"/>
              </a:rPr>
              <a:t>MCP </a:t>
            </a:r>
            <a:r>
              <a:rPr lang="ko-KR" altLang="en-US" sz="2000" b="1">
                <a:solidFill>
                  <a:srgbClr val="FFFFFF"/>
                </a:solidFill>
                <a:latin typeface="Malgun Gothic"/>
                <a:ea typeface="Malgun Gothic"/>
              </a:rPr>
              <a:t>파이썬 </a:t>
            </a:r>
            <a:r>
              <a:rPr lang="en-US" altLang="ko-KR" sz="2000" b="1">
                <a:solidFill>
                  <a:srgbClr val="FFFFFF"/>
                </a:solidFill>
                <a:latin typeface="Malgun Gothic"/>
                <a:ea typeface="Malgun Gothic"/>
              </a:rPr>
              <a:t>SDK </a:t>
            </a:r>
            <a:endParaRPr lang="ko-KR" altLang="en-US" sz="20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22905BB-05D9-4037-9686-D3116CEC3CEF}"/>
              </a:ext>
            </a:extLst>
          </p:cNvPr>
          <p:cNvSpPr/>
          <p:nvPr/>
        </p:nvSpPr>
        <p:spPr>
          <a:xfrm>
            <a:off x="0" y="6540500"/>
            <a:ext cx="12192000" cy="3175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170BA0-BDEA-4D92-9945-4A1F9F1A192A}"/>
              </a:ext>
            </a:extLst>
          </p:cNvPr>
          <p:cNvSpPr txBox="1"/>
          <p:nvPr/>
        </p:nvSpPr>
        <p:spPr>
          <a:xfrm>
            <a:off x="635000" y="6578600"/>
            <a:ext cx="8229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000">
                <a:solidFill>
                  <a:srgbClr val="94A3B8"/>
                </a:solidFill>
                <a:latin typeface="Malgun Gothic"/>
                <a:ea typeface="Malgun Gothic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8A29AA-9B65-4649-96E6-B65E8985F56B}"/>
              </a:ext>
            </a:extLst>
          </p:cNvPr>
          <p:cNvSpPr txBox="1"/>
          <p:nvPr/>
        </p:nvSpPr>
        <p:spPr>
          <a:xfrm>
            <a:off x="8966200" y="6578600"/>
            <a:ext cx="2603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000">
                <a:solidFill>
                  <a:srgbClr val="94A3B8"/>
                </a:solidFill>
                <a:latin typeface="Malgun Gothic"/>
                <a:ea typeface="Malgun Gothic"/>
              </a:rPr>
              <a:t>104</a:t>
            </a:r>
            <a:endParaRPr lang="ko-KR" altLang="en-US" sz="1000">
              <a:solidFill>
                <a:srgbClr val="94A3B8"/>
              </a:solidFill>
              <a:latin typeface="Malgun Gothic"/>
              <a:ea typeface="Malgun Gothic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897FD93-01D5-48AC-95BE-B41ECFC2EA8C}"/>
              </a:ext>
            </a:extLst>
          </p:cNvPr>
          <p:cNvSpPr/>
          <p:nvPr/>
        </p:nvSpPr>
        <p:spPr>
          <a:xfrm>
            <a:off x="596900" y="6527800"/>
            <a:ext cx="11023600" cy="12700"/>
          </a:xfrm>
          <a:prstGeom prst="rect">
            <a:avLst/>
          </a:prstGeom>
          <a:solidFill>
            <a:srgbClr val="D6DE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561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555</Words>
  <Application>Microsoft Office PowerPoint</Application>
  <PresentationFormat>와이드스크린</PresentationFormat>
  <Paragraphs>92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Malgun Gothic</vt:lpstr>
      <vt:lpstr>Malgun Gothic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YOUNGJEA OH</dc:creator>
  <cp:lastModifiedBy>YOUNGJEA OH</cp:lastModifiedBy>
  <cp:revision>1</cp:revision>
  <dcterms:created xsi:type="dcterms:W3CDTF">2026-05-27T14:22:04Z</dcterms:created>
  <dcterms:modified xsi:type="dcterms:W3CDTF">2026-05-27T14:23:41Z</dcterms:modified>
</cp:coreProperties>
</file>