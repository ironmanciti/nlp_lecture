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7" r:id="rId2"/>
    <p:sldId id="1551" r:id="rId3"/>
    <p:sldId id="899" r:id="rId4"/>
    <p:sldId id="1552" r:id="rId5"/>
    <p:sldId id="1591" r:id="rId6"/>
    <p:sldId id="2113" r:id="rId7"/>
    <p:sldId id="1590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0" autoAdjust="0"/>
    <p:restoredTop sz="94660"/>
  </p:normalViewPr>
  <p:slideViewPr>
    <p:cSldViewPr snapToGrid="0">
      <p:cViewPr varScale="1">
        <p:scale>
          <a:sx n="78" d="100"/>
          <a:sy n="78" d="100"/>
        </p:scale>
        <p:origin x="19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A91A7-7C4A-C55D-A2B1-53289B117A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2A6123-B1E2-5519-FFAB-828C7DFA1B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29187E-BD86-44EC-FA59-27D3C40FA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4AAEB-0E80-46FF-BBB1-C5416D361DC5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B4C5EC-4772-F49C-B589-51202627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9D8FC5-D8C2-7855-8668-12EE2F040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6C083-D74D-490C-9867-2586F7CB0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066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1AD81-1372-F7CA-23ED-10D7F7E52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636847-3117-3119-DE92-45D7E8322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3D7580-4212-9774-ABAE-25536E79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4AAEB-0E80-46FF-BBB1-C5416D361DC5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7A774F-9558-4BB1-05DA-3A65E1D18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08D1E9-E4B9-59FC-E42A-9492ED2E5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6C083-D74D-490C-9867-2586F7CB0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4367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AAE29A-DF7F-0081-EE1F-270AF0EB6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4CEC75-3A9C-A82C-646F-87DAC8C54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135818-0596-F7ED-B772-3F605E7C0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4AAEB-0E80-46FF-BBB1-C5416D361DC5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DCD08F-E6D9-E52B-0A96-1E5F1F71C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680E78-FACB-7E91-B37C-CEA8F3A47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6C083-D74D-490C-9867-2586F7CB0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2031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43A584-F0F9-12BF-E241-81CBB9F71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CB8A01-4E11-68EC-34F5-DC818355B6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ABCF930-A1E1-4703-578F-F953766AF7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143144-8514-3E96-A0AB-033FF1EF7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4AAEB-0E80-46FF-BBB1-C5416D361DC5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486F58E-2AFE-6872-D7C4-4D7E86AF1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C2FD16A-BF50-E34B-3F28-5846F1B41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6C083-D74D-490C-9867-2586F7CB0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0099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6E049-C2C5-A3B9-E7ED-7C16C8FDF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F2E708-6449-564D-3688-289BE6194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3287FC-0D73-3F24-5073-B0DC9F7614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1A2F1AD-E931-C093-65D8-9D8F6FB119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68B722B-EBE9-DF76-2EDE-CDC3E7C4B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0CC3E75-94F1-0DED-BBF5-E0FE5221B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4AAEB-0E80-46FF-BBB1-C5416D361DC5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B4D7284-B65A-96A9-C317-221749C14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EAB24A-368A-776E-E3C0-0D0CD46A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6C083-D74D-490C-9867-2586F7CB0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496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079BC4-A050-FB6C-0549-2E5D566BA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F463CEF-D183-A7A0-8A1C-331659757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4AAEB-0E80-46FF-BBB1-C5416D361DC5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418AE47-9A11-238B-30D7-95FAFC5D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003E17-F9A1-8D4F-3251-023ED50E4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6C083-D74D-490C-9867-2586F7CB0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741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012EE5-F2AF-3F6A-B242-6FA3C0FC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4AAEB-0E80-46FF-BBB1-C5416D361DC5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414089C-4969-FA8E-AFE7-5B5354B61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669C9E-E5B3-56C4-757D-97F08905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6C083-D74D-490C-9867-2586F7CB0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496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638B16-65C5-5E39-1F2C-BA9C776C5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C1FA53-5D0E-06AD-4C1B-15DE74554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FA4E0A-A4B7-C5C6-1EC9-8BC198FAC1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839AE7F-04C6-90BE-85CC-B53722BE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4AAEB-0E80-46FF-BBB1-C5416D361DC5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AEDF43-0236-DEC6-E32A-3479DEA90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D9AFD68-C413-29E3-5750-F747EE9B9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6C083-D74D-490C-9867-2586F7CB0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934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F0851D-756B-150A-2455-BB54127A4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4F637D5-255F-4A27-A735-B41004BC09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DF2032-1A08-FC4D-92A3-3690F383FA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660342-1D8C-70FF-8655-F344E10AD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4AAEB-0E80-46FF-BBB1-C5416D361DC5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018944-0FC6-76A3-A387-B1BEE6285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1EE671-166E-A3F0-7131-9A319BBC5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6C083-D74D-490C-9867-2586F7CB0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0469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BCDEC4-6A28-F309-6CCB-8E797C226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729B68-1FB1-FC6F-8CB3-EEFDE6E0D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FA107D-4A9C-7C37-A6AE-52F712D4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4AAEB-0E80-46FF-BBB1-C5416D361DC5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D859FB-D09F-BD2F-D118-DE0229E4D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D26168A-E2AB-C2BB-AD5A-32AF0DFE1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6C083-D74D-490C-9867-2586F7CB0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726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10177B-D8B4-5353-BB4E-EE05771D13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8822CA-2823-C3A7-D424-3F3DFB256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3193E0-5AFB-1048-325E-CDEAF1BBC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54AAEB-0E80-46FF-BBB1-C5416D361DC5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FE5B5F-772B-F347-C9F8-425A66C36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712458D-F273-337E-E970-FC21A6112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6C083-D74D-490C-9867-2586F7CB0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593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262F855-9FC2-B146-F1BB-5A952A704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CF1C0B0-FD91-1C81-6A94-EB4624FEF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C39312-C2B2-D1A4-0F63-7C1B789E9E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54AAEB-0E80-46FF-BBB1-C5416D361DC5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45EFC2-60AC-4E82-D997-4092E0C023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B98F23-390B-96E0-896A-48E74355E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6C083-D74D-490C-9867-2586F7CB0D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163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2FFB3E-F721-29D7-A478-2A42E63661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0000" y="1524000"/>
            <a:ext cx="9652000" cy="2540000"/>
          </a:xfrm>
        </p:spPr>
        <p:txBody>
          <a:bodyPr anchor="ctr" anchorCtr="0">
            <a:normAutofit/>
          </a:bodyPr>
          <a:lstStyle/>
          <a:p>
            <a:r>
              <a:rPr lang="en-US" altLang="ko-KR" sz="3200" b="1">
                <a:solidFill>
                  <a:srgbClr val="0B1F3A"/>
                </a:solidFill>
              </a:rPr>
              <a:t>Diffusion Model</a:t>
            </a:r>
            <a:endParaRPr lang="ko-KR" altLang="en-US" sz="3200" b="1">
              <a:solidFill>
                <a:srgbClr val="0B1F3A"/>
              </a:solidFill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F746A0-520F-3E81-48E3-E038146F30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70000" y="4191000"/>
            <a:ext cx="9652000" cy="1524000"/>
          </a:xfrm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026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F5237-E55F-D5DF-AA6A-B63BDA949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5400"/>
            <a:ext cx="10922000" cy="6096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dirty="0"/>
              <a:t>Diffusion (</a:t>
            </a:r>
            <a:r>
              <a:rPr lang="ko-KR" altLang="en-US" b="1" dirty="0"/>
              <a:t>확산</a:t>
            </a:r>
            <a:r>
              <a:rPr lang="en-US" altLang="ko-KR" b="1" dirty="0"/>
              <a:t>) ?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CB62BA-CB2D-BE0D-C270-9A21E4309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10515600" cy="5362204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altLang="ko-KR" dirty="0"/>
              <a:t>Noise </a:t>
            </a:r>
            <a:r>
              <a:rPr lang="ko-KR" altLang="en-US" dirty="0"/>
              <a:t>가 퍼져 나간다는 의미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ko-KR" altLang="en-US" dirty="0"/>
              <a:t>열역학에서 비롯된 이론</a:t>
            </a:r>
            <a:endParaRPr lang="en-US" altLang="ko-KR" dirty="0"/>
          </a:p>
          <a:p>
            <a:pPr>
              <a:lnSpc>
                <a:spcPct val="100000"/>
              </a:lnSpc>
            </a:pPr>
            <a:r>
              <a:rPr lang="en-US" altLang="ko-KR" dirty="0"/>
              <a:t>Image </a:t>
            </a:r>
            <a:r>
              <a:rPr lang="en-US" altLang="ko-KR" dirty="0">
                <a:sym typeface="Wingdings" panose="05000000000000000000" pitchFamily="2" charset="2"/>
              </a:rPr>
              <a:t> Noise, Noise  Image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817F722-0444-5C39-7063-8557C8A13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519" y="1399034"/>
            <a:ext cx="4084077" cy="435133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476311C-A6BF-966D-F8FD-D0FC0C6DB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404" y="3617525"/>
            <a:ext cx="6813319" cy="2559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329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6D5DE6-3A60-CF55-879B-5A1492C68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5400"/>
            <a:ext cx="10922000" cy="6096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dirty="0"/>
              <a:t>Diffusion Model ?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B2337DB-AE12-EB9E-8250-4D21594388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2000"/>
            <a:ext cx="10515600" cy="56515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000" dirty="0"/>
              <a:t>확산 모델은 점진적인 노이즈 프로세스를 반대로 하여 데이터를 생성하는 방법을 학습</a:t>
            </a:r>
            <a:br>
              <a:rPr lang="en-US" altLang="ko-KR" sz="2000" dirty="0"/>
            </a:br>
            <a:r>
              <a:rPr lang="en-US" altLang="ko-KR" sz="1800" dirty="0"/>
              <a:t>(Variational Autoencoder</a:t>
            </a:r>
            <a:r>
              <a:rPr lang="ko-KR" altLang="en-US" sz="1800" dirty="0"/>
              <a:t>와 유사 </a:t>
            </a:r>
            <a:r>
              <a:rPr lang="en-US" altLang="ko-KR" sz="1800" dirty="0"/>
              <a:t>– Gaussian noise</a:t>
            </a:r>
            <a:r>
              <a:rPr lang="ko-KR" altLang="en-US" sz="1800" dirty="0"/>
              <a:t>로 부터 </a:t>
            </a:r>
            <a:r>
              <a:rPr lang="en-US" altLang="ko-KR" sz="1800" dirty="0"/>
              <a:t>image </a:t>
            </a:r>
            <a:r>
              <a:rPr lang="ko-KR" altLang="en-US" sz="1800" dirty="0"/>
              <a:t>생성</a:t>
            </a:r>
            <a:r>
              <a:rPr lang="en-US" altLang="ko-KR" sz="1800" dirty="0"/>
              <a:t>)</a:t>
            </a:r>
          </a:p>
          <a:p>
            <a:pPr>
              <a:lnSpc>
                <a:spcPct val="100000"/>
              </a:lnSpc>
            </a:pPr>
            <a:r>
              <a:rPr lang="en-US" altLang="ko-KR" sz="2000" dirty="0"/>
              <a:t>GAN</a:t>
            </a:r>
            <a:r>
              <a:rPr lang="ko-KR" altLang="en-US" sz="2000" dirty="0"/>
              <a:t> 수준의 </a:t>
            </a:r>
            <a:r>
              <a:rPr lang="en-US" altLang="ko-KR" sz="2000" dirty="0"/>
              <a:t>High Quality + GAN </a:t>
            </a:r>
            <a:r>
              <a:rPr lang="ko-KR" altLang="en-US" sz="2000" dirty="0"/>
              <a:t>보다 뛰어난 </a:t>
            </a:r>
            <a:r>
              <a:rPr lang="en-US" altLang="ko-KR" sz="2000" dirty="0"/>
              <a:t>Diversity </a:t>
            </a:r>
            <a:r>
              <a:rPr lang="ko-KR" altLang="en-US" sz="2000" dirty="0"/>
              <a:t>구현 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아래 그림에 묘사된 노이즈 프로세스는 이미지에 노이즈를 점진적으로 추가</a:t>
            </a:r>
            <a:r>
              <a:rPr lang="en-US" altLang="ko-KR" sz="2000" dirty="0"/>
              <a:t>(Forward/Diffusion Process)</a:t>
            </a:r>
            <a:r>
              <a:rPr lang="ko-KR" altLang="en-US" sz="2000" dirty="0"/>
              <a:t>하여 순수한 </a:t>
            </a:r>
            <a:r>
              <a:rPr lang="ko-KR" altLang="en-US" sz="2000" dirty="0" err="1"/>
              <a:t>가우시안</a:t>
            </a:r>
            <a:r>
              <a:rPr lang="ko-KR" altLang="en-US" sz="2000" dirty="0"/>
              <a:t> 노이즈가 되며</a:t>
            </a:r>
            <a:r>
              <a:rPr lang="en-US" altLang="ko-KR" sz="2000" dirty="0"/>
              <a:t> </a:t>
            </a:r>
            <a:r>
              <a:rPr lang="ko-KR" altLang="en-US" sz="2000" dirty="0"/>
              <a:t>확산 모델은 이 체인을 따라 뒤로 탐색하는 방법을 학습하여 일련의 시간 단계에 걸쳐 점진적으로 노이즈를 제거하여 이 프로세스를 역전</a:t>
            </a:r>
            <a:r>
              <a:rPr lang="en-US" altLang="ko-KR" sz="2000" dirty="0"/>
              <a:t>(Denoising/Reverse Process)</a:t>
            </a:r>
            <a:r>
              <a:rPr lang="ko-KR" altLang="en-US" sz="2000" dirty="0"/>
              <a:t>시킨다</a:t>
            </a:r>
            <a:r>
              <a:rPr lang="en-US" altLang="ko-KR" sz="2000" dirty="0"/>
              <a:t>.</a:t>
            </a:r>
          </a:p>
          <a:p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9D2FF03-9218-C5DF-FC7C-DA79EFCD5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968" y="4448334"/>
            <a:ext cx="8764223" cy="18671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2448A2-B3C9-F313-261E-A355DF9949F6}"/>
              </a:ext>
            </a:extLst>
          </p:cNvPr>
          <p:cNvSpPr txBox="1"/>
          <p:nvPr/>
        </p:nvSpPr>
        <p:spPr>
          <a:xfrm>
            <a:off x="4554391" y="4144120"/>
            <a:ext cx="2797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단순히 수학적으로 구현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1F1425-2000-490E-9F5F-0E2C65867A2E}"/>
              </a:ext>
            </a:extLst>
          </p:cNvPr>
          <p:cNvSpPr txBox="1"/>
          <p:nvPr/>
        </p:nvSpPr>
        <p:spPr>
          <a:xfrm>
            <a:off x="5117113" y="6295175"/>
            <a:ext cx="17139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(</a:t>
            </a:r>
            <a:r>
              <a:rPr lang="ko-KR" altLang="en-US" sz="2000" dirty="0">
                <a:solidFill>
                  <a:srgbClr val="FF0000"/>
                </a:solidFill>
              </a:rPr>
              <a:t>신경망 학습</a:t>
            </a:r>
            <a:r>
              <a:rPr lang="en-US" altLang="ko-KR" sz="2000" dirty="0">
                <a:solidFill>
                  <a:srgbClr val="FF0000"/>
                </a:solidFill>
              </a:rPr>
              <a:t>)</a:t>
            </a:r>
            <a:endParaRPr lang="ko-KR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582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937E8BCC-14C9-DCD9-76A5-505C19859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945" y="3905349"/>
            <a:ext cx="5538897" cy="277656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35DBAED-2059-7EC1-790C-B3DCFB3DD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5400"/>
            <a:ext cx="10922000" cy="609600"/>
          </a:xfrm>
        </p:spPr>
        <p:txBody>
          <a:bodyPr anchor="ctr" anchorCtr="0">
            <a:normAutofit fontScale="90000"/>
          </a:bodyPr>
          <a:lstStyle/>
          <a:p>
            <a:r>
              <a:rPr lang="ko-KR" altLang="en-US" b="1" dirty="0"/>
              <a:t>확산 모델의 기본 </a:t>
            </a:r>
            <a:r>
              <a:rPr lang="en-US" altLang="ko-KR" b="1" dirty="0"/>
              <a:t>Idea</a:t>
            </a:r>
            <a:endParaRPr lang="ko-KR" altLang="en-US" b="1" dirty="0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DE01C1A7-F8BF-F5A9-B110-C0156A505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0753"/>
            <a:ext cx="10515600" cy="56515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400" dirty="0"/>
              <a:t>짧은 시간 내에서는 이미지에 노이즈를 더할 때나 없앨 때나 모두 </a:t>
            </a:r>
            <a:r>
              <a:rPr lang="en-US" altLang="ko-KR" sz="2400" dirty="0">
                <a:sym typeface="Wingdings" panose="05000000000000000000" pitchFamily="2" charset="2"/>
              </a:rPr>
              <a:t>gaussian </a:t>
            </a:r>
            <a:r>
              <a:rPr lang="ko-KR" altLang="en-US" sz="2400" dirty="0">
                <a:sym typeface="Wingdings" panose="05000000000000000000" pitchFamily="2" charset="2"/>
              </a:rPr>
              <a:t>분포 내에서 결정된다는</a:t>
            </a:r>
            <a:r>
              <a:rPr lang="en-US" altLang="ko-KR" sz="2400" dirty="0">
                <a:sym typeface="Wingdings" panose="05000000000000000000" pitchFamily="2" charset="2"/>
              </a:rPr>
              <a:t> </a:t>
            </a:r>
            <a:r>
              <a:rPr lang="ko-KR" altLang="en-US" sz="2400" dirty="0">
                <a:sym typeface="Wingdings" panose="05000000000000000000" pitchFamily="2" charset="2"/>
              </a:rPr>
              <a:t>것이 핵심 아이디어</a:t>
            </a:r>
            <a:r>
              <a:rPr lang="en-US" altLang="ko-KR" sz="2400" dirty="0"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sym typeface="Wingdings" panose="05000000000000000000" pitchFamily="2" charset="2"/>
              </a:rPr>
              <a:t>정규분포는 평균과 분산만 알면 분포를 예측할 수 있는데 </a:t>
            </a:r>
            <a:r>
              <a:rPr lang="en-US" altLang="ko-KR" sz="2400" dirty="0">
                <a:sym typeface="Wingdings" panose="05000000000000000000" pitchFamily="2" charset="2"/>
              </a:rPr>
              <a:t>Diffusion model</a:t>
            </a:r>
            <a:r>
              <a:rPr lang="ko-KR" altLang="en-US" sz="2400" dirty="0">
                <a:sym typeface="Wingdings" panose="05000000000000000000" pitchFamily="2" charset="2"/>
              </a:rPr>
              <a:t> 이 하는 일은 역으로 돌아갈 때 평균과 분산을 맞추는 일을 한다</a:t>
            </a:r>
            <a:r>
              <a:rPr lang="en-US" altLang="ko-KR" sz="2400" dirty="0">
                <a:sym typeface="Wingdings" panose="05000000000000000000" pitchFamily="2" charset="2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ko-KR" altLang="en-US" sz="2400" dirty="0">
                <a:sym typeface="Wingdings" panose="05000000000000000000" pitchFamily="2" charset="2"/>
              </a:rPr>
              <a:t>짧은 단계 </a:t>
            </a:r>
            <a:r>
              <a:rPr lang="en-US" altLang="ko-KR" sz="2400" dirty="0">
                <a:sym typeface="Wingdings" panose="05000000000000000000" pitchFamily="2" charset="2"/>
              </a:rPr>
              <a:t>(ex. 1000 step)</a:t>
            </a:r>
            <a:r>
              <a:rPr lang="ko-KR" altLang="en-US" sz="2400" dirty="0">
                <a:sym typeface="Wingdings" panose="05000000000000000000" pitchFamily="2" charset="2"/>
              </a:rPr>
              <a:t>로 나누어 단계별의 평균과 분산을 </a:t>
            </a:r>
            <a:r>
              <a:rPr lang="en-US" altLang="ko-KR" sz="2400" dirty="0">
                <a:sym typeface="Wingdings" panose="05000000000000000000" pitchFamily="2" charset="2"/>
              </a:rPr>
              <a:t>AI</a:t>
            </a:r>
            <a:r>
              <a:rPr lang="ko-KR" altLang="en-US" sz="2400" dirty="0">
                <a:sym typeface="Wingdings" panose="05000000000000000000" pitchFamily="2" charset="2"/>
              </a:rPr>
              <a:t>가 계산 </a:t>
            </a:r>
            <a:br>
              <a:rPr lang="en-US" altLang="ko-KR" sz="2400" dirty="0">
                <a:sym typeface="Wingdings" panose="05000000000000000000" pitchFamily="2" charset="2"/>
              </a:rPr>
            </a:br>
            <a:r>
              <a:rPr lang="en-US" altLang="ko-KR" sz="2400" dirty="0">
                <a:sym typeface="Wingdings" panose="05000000000000000000" pitchFamily="2" charset="2"/>
              </a:rPr>
              <a:t>(</a:t>
            </a:r>
            <a:r>
              <a:rPr lang="ko-KR" altLang="en-US" sz="2400" dirty="0">
                <a:sym typeface="Wingdings" panose="05000000000000000000" pitchFamily="2" charset="2"/>
              </a:rPr>
              <a:t>분산은 대개 </a:t>
            </a:r>
            <a:r>
              <a:rPr lang="en-US" altLang="ko-KR" sz="2400" dirty="0">
                <a:sym typeface="Wingdings" panose="05000000000000000000" pitchFamily="2" charset="2"/>
              </a:rPr>
              <a:t>1 </a:t>
            </a:r>
            <a:r>
              <a:rPr lang="ko-KR" altLang="en-US" sz="2400" dirty="0">
                <a:sym typeface="Wingdings" panose="05000000000000000000" pitchFamily="2" charset="2"/>
              </a:rPr>
              <a:t>로 고정</a:t>
            </a:r>
            <a:r>
              <a:rPr lang="en-US" altLang="ko-KR" sz="2400" dirty="0">
                <a:sym typeface="Wingdings" panose="05000000000000000000" pitchFamily="2" charset="2"/>
              </a:rPr>
              <a:t>)</a:t>
            </a:r>
            <a:endParaRPr lang="ko-KR" altLang="en-US" sz="2400" dirty="0"/>
          </a:p>
          <a:p>
            <a:pPr>
              <a:lnSpc>
                <a:spcPct val="100000"/>
              </a:lnSpc>
            </a:pPr>
            <a:endParaRPr lang="ko-KR" alt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D0FCE92-6785-8A7A-5C7C-F402EF52CEF7}"/>
              </a:ext>
            </a:extLst>
          </p:cNvPr>
          <p:cNvSpPr txBox="1"/>
          <p:nvPr/>
        </p:nvSpPr>
        <p:spPr>
          <a:xfrm>
            <a:off x="9258517" y="4818737"/>
            <a:ext cx="26564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미리 만들어 놓고</a:t>
            </a:r>
            <a:br>
              <a:rPr lang="en-US" altLang="ko-KR" dirty="0"/>
            </a:br>
            <a:r>
              <a:rPr lang="ko-KR" altLang="en-US" dirty="0"/>
              <a:t>거꾸로 예측하도록 학습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7CADDD-5E05-5CE7-F66A-1180EB176450}"/>
              </a:ext>
            </a:extLst>
          </p:cNvPr>
          <p:cNvSpPr txBox="1"/>
          <p:nvPr/>
        </p:nvSpPr>
        <p:spPr>
          <a:xfrm>
            <a:off x="9258517" y="5845428"/>
            <a:ext cx="1579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Ground</a:t>
            </a:r>
            <a:r>
              <a:rPr lang="ko-KR" altLang="en-US" dirty="0"/>
              <a:t> </a:t>
            </a:r>
            <a:r>
              <a:rPr lang="en-US" altLang="ko-KR" dirty="0"/>
              <a:t>Truth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3084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82871-A793-C13A-5ED8-337071B52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5400"/>
            <a:ext cx="10922000" cy="6096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dirty="0"/>
              <a:t>Diffusion Model </a:t>
            </a:r>
            <a:r>
              <a:rPr lang="ko-KR" altLang="en-US" b="1" dirty="0"/>
              <a:t>구조 </a:t>
            </a:r>
            <a:r>
              <a:rPr lang="en-US" altLang="ko-KR" b="1" dirty="0"/>
              <a:t>– </a:t>
            </a:r>
            <a:r>
              <a:rPr lang="en-US" altLang="ko-KR" b="1" dirty="0" err="1"/>
              <a:t>UNet</a:t>
            </a:r>
            <a:r>
              <a:rPr lang="en-US" altLang="ko-KR" b="1" dirty="0"/>
              <a:t> </a:t>
            </a:r>
            <a:r>
              <a:rPr lang="ko-KR" altLang="en-US" b="1" dirty="0"/>
              <a:t>사용</a:t>
            </a:r>
          </a:p>
        </p:txBody>
      </p:sp>
      <p:pic>
        <p:nvPicPr>
          <p:cNvPr id="13" name="내용 개체 틀 4">
            <a:extLst>
              <a:ext uri="{FF2B5EF4-FFF2-40B4-BE49-F238E27FC236}">
                <a16:creationId xmlns:a16="http://schemas.microsoft.com/office/drawing/2014/main" id="{9A187613-226C-FE7E-4436-5C16B6C908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8296" y="1275736"/>
            <a:ext cx="4267201" cy="944474"/>
          </a:xfr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2C2F46E0-B600-FB25-6086-AE38722C5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862" y="2392727"/>
            <a:ext cx="8753203" cy="409150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F6ACC3A-3C5D-0F75-936C-C8B1C5231509}"/>
              </a:ext>
            </a:extLst>
          </p:cNvPr>
          <p:cNvSpPr txBox="1"/>
          <p:nvPr/>
        </p:nvSpPr>
        <p:spPr>
          <a:xfrm>
            <a:off x="3758296" y="2863387"/>
            <a:ext cx="45826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다운샘플 경로의 </a:t>
            </a:r>
            <a:r>
              <a:rPr lang="en-US" altLang="ko-KR" dirty="0"/>
              <a:t>feature</a:t>
            </a:r>
            <a:r>
              <a:rPr lang="ko-KR" altLang="en-US" dirty="0"/>
              <a:t>를 </a:t>
            </a:r>
            <a:r>
              <a:rPr lang="ko-KR" altLang="en-US" dirty="0" err="1"/>
              <a:t>업샘플</a:t>
            </a:r>
            <a:r>
              <a:rPr lang="ko-KR" altLang="en-US" dirty="0"/>
              <a:t> 경로의 해당 레이어에 </a:t>
            </a:r>
            <a:r>
              <a:rPr lang="en-US" altLang="ko-KR" dirty="0"/>
              <a:t>skip connection</a:t>
            </a:r>
            <a:r>
              <a:rPr lang="ko-KR" altLang="en-US" dirty="0"/>
              <a:t>으로 연결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264AE0-AA85-DBF9-67C7-685FE8D8C09E}"/>
              </a:ext>
            </a:extLst>
          </p:cNvPr>
          <p:cNvSpPr txBox="1"/>
          <p:nvPr/>
        </p:nvSpPr>
        <p:spPr>
          <a:xfrm>
            <a:off x="271869" y="4580582"/>
            <a:ext cx="29897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입력과 동일한 크기의 이미지를 예측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이미지 크기를 줄이는 여러 블록의 </a:t>
            </a:r>
            <a:r>
              <a:rPr lang="en-US" altLang="ko-KR" dirty="0" err="1"/>
              <a:t>ResNet</a:t>
            </a:r>
            <a:r>
              <a:rPr lang="en-US" altLang="ko-KR" dirty="0"/>
              <a:t> </a:t>
            </a:r>
            <a:r>
              <a:rPr lang="ko-KR" altLang="en-US" dirty="0"/>
              <a:t>레이어를 통과</a:t>
            </a:r>
            <a:endParaRPr lang="en-US" altLang="ko-K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6E1D2B-8819-89D6-F1C7-04BC75BDA4AC}"/>
              </a:ext>
            </a:extLst>
          </p:cNvPr>
          <p:cNvSpPr txBox="1"/>
          <p:nvPr/>
        </p:nvSpPr>
        <p:spPr>
          <a:xfrm>
            <a:off x="8447586" y="5042247"/>
            <a:ext cx="38607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동일한 수의 </a:t>
            </a:r>
            <a:r>
              <a:rPr lang="ko-KR" altLang="en-US" dirty="0" err="1"/>
              <a:t>업샘플링</a:t>
            </a:r>
            <a:r>
              <a:rPr lang="ko-KR" altLang="en-US" dirty="0"/>
              <a:t> 블록 통과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skip connection</a:t>
            </a:r>
            <a:r>
              <a:rPr lang="ko-KR" altLang="en-US" dirty="0"/>
              <a:t>으로 연결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44B53B-C387-67B6-2A57-18351854D719}"/>
              </a:ext>
            </a:extLst>
          </p:cNvPr>
          <p:cNvSpPr txBox="1"/>
          <p:nvPr/>
        </p:nvSpPr>
        <p:spPr>
          <a:xfrm>
            <a:off x="8857649" y="110321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84D7FD-B3D0-B32E-4E41-85C5ECBE6B85}"/>
              </a:ext>
            </a:extLst>
          </p:cNvPr>
          <p:cNvSpPr txBox="1"/>
          <p:nvPr/>
        </p:nvSpPr>
        <p:spPr>
          <a:xfrm>
            <a:off x="8366177" y="1287885"/>
            <a:ext cx="31484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Diffusion </a:t>
            </a:r>
            <a:r>
              <a:rPr lang="ko-KR" altLang="en-US" sz="1600" dirty="0"/>
              <a:t>모델이 노이즈를 제거하며 이미지를 생성하는 과정</a:t>
            </a: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D506B8F5-5907-A9CA-A81F-D00230C2B2D0}"/>
              </a:ext>
            </a:extLst>
          </p:cNvPr>
          <p:cNvCxnSpPr>
            <a:cxnSpLocks/>
          </p:cNvCxnSpPr>
          <p:nvPr/>
        </p:nvCxnSpPr>
        <p:spPr>
          <a:xfrm flipH="1">
            <a:off x="3758296" y="2220210"/>
            <a:ext cx="1258872" cy="369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1DE5F388-2A5E-3F49-3A35-F6F0395A58D2}"/>
              </a:ext>
            </a:extLst>
          </p:cNvPr>
          <p:cNvCxnSpPr/>
          <p:nvPr/>
        </p:nvCxnSpPr>
        <p:spPr>
          <a:xfrm flipH="1" flipV="1">
            <a:off x="6894095" y="2220210"/>
            <a:ext cx="1299410" cy="369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49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E25A3-AB95-EFC3-8A83-FF9ADBBE6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5400"/>
            <a:ext cx="10922000" cy="6096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dirty="0"/>
              <a:t>OpenAI GLIDE (</a:t>
            </a:r>
            <a:r>
              <a:rPr lang="en-US" altLang="ko-KR" b="1" i="0" dirty="0">
                <a:effectLst/>
                <a:latin typeface="Google Sans"/>
              </a:rPr>
              <a:t>Generative Language-Image Diffusion Estimator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B02FFA-B05C-74B3-E057-282D4CF01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1100"/>
            <a:ext cx="10515600" cy="53117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ko-KR" altLang="en-US" sz="2200" dirty="0"/>
              <a:t>텍스트 설명을 입력하면 해당 이미지를 점차적으로 생성해내는 </a:t>
            </a:r>
            <a:r>
              <a:rPr lang="ko-KR" altLang="en-US" sz="2200" b="1" dirty="0"/>
              <a:t>확산 기반 이미지 생성 모델</a:t>
            </a:r>
            <a:endParaRPr lang="ko-KR" altLang="en-US" sz="2200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B1D7525-CDE0-D3CD-74EA-E4D662A432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733" y="2372109"/>
            <a:ext cx="6790815" cy="384763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0BB9AF-5148-6D59-F7C5-1A94B4EB2D2D}"/>
              </a:ext>
            </a:extLst>
          </p:cNvPr>
          <p:cNvSpPr txBox="1"/>
          <p:nvPr/>
        </p:nvSpPr>
        <p:spPr>
          <a:xfrm>
            <a:off x="8136666" y="3864928"/>
            <a:ext cx="35139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Diffusion </a:t>
            </a:r>
            <a:r>
              <a:rPr lang="ko-KR" altLang="en-US" dirty="0">
                <a:solidFill>
                  <a:srgbClr val="FF0000"/>
                </a:solidFill>
              </a:rPr>
              <a:t>과정에 </a:t>
            </a:r>
            <a:r>
              <a:rPr lang="en-US" altLang="ko-KR" dirty="0">
                <a:solidFill>
                  <a:srgbClr val="FF0000"/>
                </a:solidFill>
              </a:rPr>
              <a:t>Text embedding</a:t>
            </a:r>
            <a:r>
              <a:rPr lang="ko-KR" altLang="en-US" dirty="0">
                <a:solidFill>
                  <a:srgbClr val="FF0000"/>
                </a:solidFill>
              </a:rPr>
              <a:t>을 조건으로 추가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50452C-DDF2-99A4-738E-BB1E94F35288}"/>
              </a:ext>
            </a:extLst>
          </p:cNvPr>
          <p:cNvSpPr txBox="1"/>
          <p:nvPr/>
        </p:nvSpPr>
        <p:spPr>
          <a:xfrm>
            <a:off x="8311767" y="5903831"/>
            <a:ext cx="2369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Image condition text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325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D31F1F-9D37-F2BA-1DAC-0FBC64787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5400"/>
            <a:ext cx="10922000" cy="609600"/>
          </a:xfrm>
        </p:spPr>
        <p:txBody>
          <a:bodyPr anchor="ctr" anchorCtr="0">
            <a:normAutofit fontScale="90000"/>
          </a:bodyPr>
          <a:lstStyle/>
          <a:p>
            <a:r>
              <a:rPr lang="en-US" altLang="ko-KR" b="1" dirty="0"/>
              <a:t>GLIDE </a:t>
            </a:r>
            <a:r>
              <a:rPr lang="ko-KR" altLang="en-US" b="1" dirty="0"/>
              <a:t>모델 작동 예</a:t>
            </a:r>
          </a:p>
        </p:txBody>
      </p:sp>
      <p:pic>
        <p:nvPicPr>
          <p:cNvPr id="19" name="내용 개체 틀 4">
            <a:extLst>
              <a:ext uri="{FF2B5EF4-FFF2-40B4-BE49-F238E27FC236}">
                <a16:creationId xmlns:a16="http://schemas.microsoft.com/office/drawing/2014/main" id="{A88239DC-C39F-7CA8-FB24-16EF64B3C3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4267" y="1690688"/>
            <a:ext cx="11183465" cy="3226526"/>
          </a:xfr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0D4F06-88FB-2238-C4C2-3BB51FA1D26F}"/>
              </a:ext>
            </a:extLst>
          </p:cNvPr>
          <p:cNvSpPr txBox="1"/>
          <p:nvPr/>
        </p:nvSpPr>
        <p:spPr>
          <a:xfrm>
            <a:off x="1386839" y="5444885"/>
            <a:ext cx="94183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1" dirty="0">
                <a:solidFill>
                  <a:srgbClr val="FF0000"/>
                </a:solidFill>
              </a:rPr>
              <a:t>Base model </a:t>
            </a:r>
            <a:r>
              <a:rPr lang="en-US" altLang="ko-KR" sz="2000" dirty="0"/>
              <a:t>(Text-conditional diffusion model)</a:t>
            </a:r>
          </a:p>
          <a:p>
            <a:r>
              <a:rPr lang="ko-KR" altLang="en-US" sz="2000" dirty="0"/>
              <a:t>텍스트를 </a:t>
            </a:r>
            <a:r>
              <a:rPr lang="en-US" altLang="ko-KR" sz="2000" dirty="0"/>
              <a:t>Transformer</a:t>
            </a:r>
            <a:r>
              <a:rPr lang="ko-KR" altLang="en-US" sz="2000" dirty="0"/>
              <a:t>에 </a:t>
            </a:r>
            <a:r>
              <a:rPr lang="ko-KR" altLang="en-US" sz="2000" dirty="0" err="1"/>
              <a:t>포워딩해</a:t>
            </a:r>
            <a:r>
              <a:rPr lang="ko-KR" altLang="en-US" sz="2000" dirty="0"/>
              <a:t> </a:t>
            </a:r>
            <a:r>
              <a:rPr lang="en-US" altLang="ko-KR" sz="2000" dirty="0"/>
              <a:t>feature</a:t>
            </a:r>
            <a:r>
              <a:rPr lang="ko-KR" altLang="en-US" sz="2000" dirty="0"/>
              <a:t>를 얻고</a:t>
            </a:r>
            <a:r>
              <a:rPr lang="en-US" altLang="ko-KR" sz="2000" dirty="0"/>
              <a:t>, </a:t>
            </a:r>
            <a:r>
              <a:rPr lang="ko-KR" altLang="en-US" sz="2000" dirty="0"/>
              <a:t>이를 </a:t>
            </a:r>
            <a:r>
              <a:rPr lang="en-US" altLang="ko-KR" sz="2000" dirty="0"/>
              <a:t>masked image</a:t>
            </a:r>
            <a:r>
              <a:rPr lang="ko-KR" altLang="en-US" sz="2000" dirty="0"/>
              <a:t>와 함께 </a:t>
            </a:r>
            <a:r>
              <a:rPr lang="en-US" altLang="ko-KR" sz="2000" dirty="0"/>
              <a:t>Diffusion Model</a:t>
            </a:r>
            <a:r>
              <a:rPr lang="ko-KR" altLang="en-US" sz="2000" dirty="0"/>
              <a:t>의 </a:t>
            </a:r>
            <a:r>
              <a:rPr lang="en-US" altLang="ko-KR" sz="2000" dirty="0"/>
              <a:t>input </a:t>
            </a:r>
            <a:r>
              <a:rPr lang="ko-KR" altLang="en-US" sz="2000" dirty="0"/>
              <a:t>으로 넣어줍니다</a:t>
            </a:r>
            <a:r>
              <a:rPr lang="en-US" altLang="ko-KR" sz="2000" dirty="0"/>
              <a:t>. </a:t>
            </a:r>
            <a:r>
              <a:rPr lang="ko-KR" altLang="en-US" sz="2000" dirty="0"/>
              <a:t>그 결과 텍스트 정보를 반영한 </a:t>
            </a:r>
            <a:r>
              <a:rPr lang="en-US" altLang="ko-KR" sz="2000" dirty="0"/>
              <a:t>64x64 </a:t>
            </a:r>
            <a:r>
              <a:rPr lang="ko-KR" altLang="en-US" sz="2000" dirty="0"/>
              <a:t>이미지를 얻습니다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F38FA7C-4073-0D4A-83DD-FB9F615F8A1E}"/>
              </a:ext>
            </a:extLst>
          </p:cNvPr>
          <p:cNvSpPr/>
          <p:nvPr/>
        </p:nvSpPr>
        <p:spPr>
          <a:xfrm>
            <a:off x="2658291" y="1690688"/>
            <a:ext cx="4715691" cy="3226526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995C4F2-6432-0C95-0370-ED55C12CB1B4}"/>
              </a:ext>
            </a:extLst>
          </p:cNvPr>
          <p:cNvSpPr txBox="1"/>
          <p:nvPr/>
        </p:nvSpPr>
        <p:spPr>
          <a:xfrm>
            <a:off x="7476309" y="650148"/>
            <a:ext cx="47156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b="1" dirty="0" err="1">
                <a:solidFill>
                  <a:srgbClr val="FF0000"/>
                </a:solidFill>
              </a:rPr>
              <a:t>Upsampling</a:t>
            </a:r>
            <a:r>
              <a:rPr lang="en-US" altLang="ko-KR" sz="2000" b="1" dirty="0">
                <a:solidFill>
                  <a:srgbClr val="FF0000"/>
                </a:solidFill>
              </a:rPr>
              <a:t> diffusion model</a:t>
            </a:r>
          </a:p>
          <a:p>
            <a:r>
              <a:rPr lang="en-US" altLang="ko-KR" sz="2000" dirty="0"/>
              <a:t>Base model</a:t>
            </a:r>
            <a:r>
              <a:rPr lang="ko-KR" altLang="en-US" sz="2000" dirty="0"/>
              <a:t>이 생성한 이미지를 </a:t>
            </a:r>
            <a:r>
              <a:rPr lang="en-US" altLang="ko-KR" sz="2000" dirty="0" err="1"/>
              <a:t>upsampling</a:t>
            </a:r>
            <a:r>
              <a:rPr lang="en-US" altLang="ko-KR" sz="2000" dirty="0"/>
              <a:t> diffusion model</a:t>
            </a:r>
            <a:r>
              <a:rPr lang="ko-KR" altLang="en-US" sz="2000" dirty="0"/>
              <a:t>을 이용해 </a:t>
            </a:r>
            <a:r>
              <a:rPr lang="en-US" altLang="ko-KR" sz="2000" dirty="0"/>
              <a:t>256x256</a:t>
            </a:r>
            <a:r>
              <a:rPr lang="ko-KR" altLang="en-US" sz="2000" dirty="0"/>
              <a:t>으로 해상도를 높입니다</a:t>
            </a:r>
            <a:r>
              <a:rPr lang="en-US" altLang="ko-KR" sz="2000" dirty="0"/>
              <a:t>.</a:t>
            </a:r>
          </a:p>
        </p:txBody>
      </p:sp>
      <p:sp>
        <p:nvSpPr>
          <p:cNvPr id="23" name="화살표: 아래쪽 22">
            <a:extLst>
              <a:ext uri="{FF2B5EF4-FFF2-40B4-BE49-F238E27FC236}">
                <a16:creationId xmlns:a16="http://schemas.microsoft.com/office/drawing/2014/main" id="{106A37B8-F150-98B5-3096-7E6D188894FB}"/>
              </a:ext>
            </a:extLst>
          </p:cNvPr>
          <p:cNvSpPr/>
          <p:nvPr/>
        </p:nvSpPr>
        <p:spPr>
          <a:xfrm>
            <a:off x="4859383" y="5074004"/>
            <a:ext cx="470266" cy="24257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위쪽 23">
            <a:extLst>
              <a:ext uri="{FF2B5EF4-FFF2-40B4-BE49-F238E27FC236}">
                <a16:creationId xmlns:a16="http://schemas.microsoft.com/office/drawing/2014/main" id="{55410C83-8A44-AF72-3F58-54F668F0A241}"/>
              </a:ext>
            </a:extLst>
          </p:cNvPr>
          <p:cNvSpPr/>
          <p:nvPr/>
        </p:nvSpPr>
        <p:spPr>
          <a:xfrm>
            <a:off x="9431383" y="1977816"/>
            <a:ext cx="391886" cy="188459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1F7F3A79-706A-3C2B-815C-FB77B05B4B46}"/>
              </a:ext>
            </a:extLst>
          </p:cNvPr>
          <p:cNvSpPr/>
          <p:nvPr/>
        </p:nvSpPr>
        <p:spPr>
          <a:xfrm>
            <a:off x="7857178" y="2440686"/>
            <a:ext cx="3830553" cy="2342481"/>
          </a:xfrm>
          <a:prstGeom prst="round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E552DDF-2EB6-116F-1F0B-7A1FA5138F28}"/>
              </a:ext>
            </a:extLst>
          </p:cNvPr>
          <p:cNvSpPr txBox="1"/>
          <p:nvPr/>
        </p:nvSpPr>
        <p:spPr>
          <a:xfrm>
            <a:off x="2874488" y="4552111"/>
            <a:ext cx="28894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inpainting (</a:t>
            </a:r>
            <a:r>
              <a:rPr lang="ko-KR" altLang="en-US" b="1" dirty="0"/>
              <a:t>부분 채우기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AC13DD-B54F-98B1-05F7-79A7C3516066}"/>
              </a:ext>
            </a:extLst>
          </p:cNvPr>
          <p:cNvSpPr txBox="1"/>
          <p:nvPr/>
        </p:nvSpPr>
        <p:spPr>
          <a:xfrm>
            <a:off x="518652" y="4255477"/>
            <a:ext cx="173637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Original Image</a:t>
            </a:r>
            <a:endParaRPr lang="ko-KR" alt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BA6B3F-7DCA-65A3-690A-5F6C69B2A0DC}"/>
              </a:ext>
            </a:extLst>
          </p:cNvPr>
          <p:cNvSpPr txBox="1"/>
          <p:nvPr/>
        </p:nvSpPr>
        <p:spPr>
          <a:xfrm>
            <a:off x="2738221" y="4241445"/>
            <a:ext cx="1721818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Masked Image</a:t>
            </a:r>
            <a:endParaRPr lang="ko-KR" alt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AD7022C-C7FA-8BA7-C0F9-D25F136B8502}"/>
              </a:ext>
            </a:extLst>
          </p:cNvPr>
          <p:cNvSpPr txBox="1"/>
          <p:nvPr/>
        </p:nvSpPr>
        <p:spPr>
          <a:xfrm>
            <a:off x="4604190" y="3414582"/>
            <a:ext cx="1854995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Text-conditional</a:t>
            </a:r>
          </a:p>
          <a:p>
            <a:r>
              <a:rPr lang="en-US" altLang="ko-KR" dirty="0"/>
              <a:t>Diffusion model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B1C3650-F61C-979A-F2D5-D62A24346F1A}"/>
              </a:ext>
            </a:extLst>
          </p:cNvPr>
          <p:cNvSpPr txBox="1"/>
          <p:nvPr/>
        </p:nvSpPr>
        <p:spPr>
          <a:xfrm>
            <a:off x="6413075" y="4084285"/>
            <a:ext cx="833883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64x64</a:t>
            </a:r>
          </a:p>
          <a:p>
            <a:r>
              <a:rPr lang="en-US" altLang="ko-KR" dirty="0"/>
              <a:t>Image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9145E8-1327-2B1D-89EA-E21FFD814258}"/>
              </a:ext>
            </a:extLst>
          </p:cNvPr>
          <p:cNvSpPr txBox="1"/>
          <p:nvPr/>
        </p:nvSpPr>
        <p:spPr>
          <a:xfrm>
            <a:off x="10244083" y="4113550"/>
            <a:ext cx="1051891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256x256</a:t>
            </a:r>
          </a:p>
          <a:p>
            <a:pPr algn="ctr"/>
            <a:r>
              <a:rPr lang="en-US" altLang="ko-KR" dirty="0"/>
              <a:t>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2606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와이드스크린</PresentationFormat>
  <Paragraphs>42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Google Sans</vt:lpstr>
      <vt:lpstr>맑은 고딕</vt:lpstr>
      <vt:lpstr>Arial</vt:lpstr>
      <vt:lpstr>Wingdings</vt:lpstr>
      <vt:lpstr>Office 테마</vt:lpstr>
      <vt:lpstr>Diffusion Model</vt:lpstr>
      <vt:lpstr>Diffusion (확산) ?</vt:lpstr>
      <vt:lpstr>Diffusion Model ?</vt:lpstr>
      <vt:lpstr>확산 모델의 기본 Idea</vt:lpstr>
      <vt:lpstr>Diffusion Model 구조 – UNet 사용</vt:lpstr>
      <vt:lpstr>OpenAI GLIDE (Generative Language-Image Diffusion Estimator)</vt:lpstr>
      <vt:lpstr>GLIDE 모델 작동 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YOUNGJEA OH</dc:creator>
  <cp:lastModifiedBy>YOUNGJEA OH</cp:lastModifiedBy>
  <cp:revision>1</cp:revision>
  <dcterms:created xsi:type="dcterms:W3CDTF">2026-05-27T22:53:09Z</dcterms:created>
  <dcterms:modified xsi:type="dcterms:W3CDTF">2026-05-27T22:53:45Z</dcterms:modified>
</cp:coreProperties>
</file>